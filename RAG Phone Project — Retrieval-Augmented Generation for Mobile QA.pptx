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27641" cy="478536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889" y="1073109"/>
            <a:ext cx="5071111" cy="407039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6265" y="1571625"/>
            <a:ext cx="2000250" cy="2000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6265" y="1571625"/>
            <a:ext cx="2000250" cy="179590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423770" y="3453854"/>
            <a:ext cx="7252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74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PIPELINE</a:t>
            </a:r>
            <a:endParaRPr lang="en-US" sz="620" dirty="0"/>
          </a:p>
        </p:txBody>
      </p:sp>
      <p:sp>
        <p:nvSpPr>
          <p:cNvPr id="8" name="Text 1"/>
          <p:cNvSpPr/>
          <p:nvPr/>
        </p:nvSpPr>
        <p:spPr>
          <a:xfrm>
            <a:off x="457200" y="1785640"/>
            <a:ext cx="29170" cy="157222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4F8EF7"/>
              </a:gs>
              <a:gs pos="70000">
                <a:srgbClr val="A78BFA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  <a:effectLst>
            <a:outerShdw sx="100000" sy="100000" kx="0" ky="0" algn="bl" rotWithShape="0" blurRad="128270" dist="50800" dir="16200000">
              <a:srgbClr val="4f8ef7">
                <a:alpha val="5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2"/>
          <p:cNvSpPr/>
          <p:nvPr/>
        </p:nvSpPr>
        <p:spPr>
          <a:xfrm>
            <a:off x="714970" y="1600498"/>
            <a:ext cx="2186898" cy="228898"/>
          </a:xfrm>
          <a:prstGeom prst="roundRect">
            <a:avLst>
              <a:gd name="adj" fmla="val 62696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none" lIns="220861" tIns="35560" rIns="114300" bIns="35560" rtlCol="0" anchor="ctr"/>
          <a:lstStyle/>
          <a:p>
            <a:pPr algn="l" indent="0" marL="0">
              <a:buNone/>
            </a:pPr>
            <a:r>
              <a:rPr lang="en-US" sz="730" spc="44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ASSIGNMENT SUBMISSION</a:t>
            </a:r>
            <a:endParaRPr lang="en-US" sz="730" dirty="0"/>
          </a:p>
        </p:txBody>
      </p:sp>
      <p:sp>
        <p:nvSpPr>
          <p:cNvPr id="10" name="Text 3"/>
          <p:cNvSpPr/>
          <p:nvPr/>
        </p:nvSpPr>
        <p:spPr>
          <a:xfrm>
            <a:off x="838795" y="1690241"/>
            <a:ext cx="49411" cy="49411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43180" dist="50800" dir="1620000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714970" y="2000845"/>
            <a:ext cx="8250406" cy="5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10"/>
              </a:lnSpc>
              <a:spcAft>
                <a:spcPts val="340"/>
              </a:spcAft>
              <a:buNone/>
            </a:pPr>
            <a:r>
              <a:rPr lang="en-US" sz="4390" spc="-88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</a:t>
            </a:r>
            <a:pPr algn="l" indent="0" marL="0">
              <a:lnSpc>
                <a:spcPts val="4610"/>
              </a:lnSpc>
              <a:spcAft>
                <a:spcPts val="340"/>
              </a:spcAft>
              <a:buNone/>
            </a:pPr>
            <a:r>
              <a:rPr lang="en-US" sz="4390" spc="-88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Phone Project</a:t>
            </a:r>
            <a:endParaRPr lang="en-US" sz="4390" dirty="0"/>
          </a:p>
        </p:txBody>
      </p:sp>
      <p:sp>
        <p:nvSpPr>
          <p:cNvPr id="12" name="Text 5"/>
          <p:cNvSpPr/>
          <p:nvPr/>
        </p:nvSpPr>
        <p:spPr>
          <a:xfrm>
            <a:off x="714970" y="2715667"/>
            <a:ext cx="5343525" cy="220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6"/>
              </a:lnSpc>
              <a:spcBef>
                <a:spcPts val="680"/>
              </a:spcBef>
              <a:buNone/>
            </a:pPr>
            <a:r>
              <a:rPr lang="en-US" sz="12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Mobile Device Q&amp;A</a:t>
            </a:r>
            <a:endParaRPr lang="en-US" sz="1240" dirty="0"/>
          </a:p>
        </p:txBody>
      </p:sp>
      <p:sp>
        <p:nvSpPr>
          <p:cNvPr id="13" name="Text 6"/>
          <p:cNvSpPr/>
          <p:nvPr/>
        </p:nvSpPr>
        <p:spPr>
          <a:xfrm>
            <a:off x="714970" y="3136702"/>
            <a:ext cx="51435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4F8E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539" y="3380714"/>
            <a:ext cx="132588" cy="1325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69045" y="3432423"/>
            <a:ext cx="29170" cy="29170"/>
          </a:xfrm>
          <a:prstGeom prst="ellipse">
            <a:avLst/>
          </a:prstGeom>
          <a:solidFill>
            <a:srgbClr val="8FAAC3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8"/>
          <p:cNvSpPr/>
          <p:nvPr/>
        </p:nvSpPr>
        <p:spPr>
          <a:xfrm>
            <a:off x="1569690" y="3361283"/>
            <a:ext cx="7877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11, 2026</a:t>
            </a:r>
            <a:endParaRPr lang="en-US" sz="9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03384" y="3380714"/>
            <a:ext cx="132588" cy="13258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2514451" y="3432423"/>
            <a:ext cx="29170" cy="29170"/>
          </a:xfrm>
          <a:prstGeom prst="ellipse">
            <a:avLst/>
          </a:prstGeom>
          <a:solidFill>
            <a:srgbClr val="8FAAC3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0"/>
          <p:cNvSpPr/>
          <p:nvPr/>
        </p:nvSpPr>
        <p:spPr>
          <a:xfrm>
            <a:off x="2772221" y="3351163"/>
            <a:ext cx="434132" cy="210860"/>
          </a:xfrm>
          <a:prstGeom prst="roundRect">
            <a:avLst>
              <a:gd name="adj" fmla="val 40956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680" dirty="0"/>
          </a:p>
        </p:txBody>
      </p:sp>
      <p:sp>
        <p:nvSpPr>
          <p:cNvPr id="20" name="Text 11"/>
          <p:cNvSpPr/>
          <p:nvPr/>
        </p:nvSpPr>
        <p:spPr>
          <a:xfrm>
            <a:off x="3263503" y="3351163"/>
            <a:ext cx="713929" cy="210860"/>
          </a:xfrm>
          <a:prstGeom prst="roundRect">
            <a:avLst>
              <a:gd name="adj" fmla="val 40956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680" dirty="0"/>
          </a:p>
        </p:txBody>
      </p:sp>
      <p:sp>
        <p:nvSpPr>
          <p:cNvPr id="21" name="Text 12"/>
          <p:cNvSpPr/>
          <p:nvPr/>
        </p:nvSpPr>
        <p:spPr>
          <a:xfrm>
            <a:off x="4034582" y="3351163"/>
            <a:ext cx="372368" cy="210860"/>
          </a:xfrm>
          <a:prstGeom prst="ellipse">
            <a:avLst/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680" dirty="0"/>
          </a:p>
        </p:txBody>
      </p:sp>
      <p:sp>
        <p:nvSpPr>
          <p:cNvPr id="22" name="Text 13"/>
          <p:cNvSpPr/>
          <p:nvPr/>
        </p:nvSpPr>
        <p:spPr>
          <a:xfrm>
            <a:off x="4464100" y="3351163"/>
            <a:ext cx="570607" cy="210860"/>
          </a:xfrm>
          <a:prstGeom prst="roundRect">
            <a:avLst>
              <a:gd name="adj" fmla="val 40956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680" dirty="0"/>
          </a:p>
        </p:txBody>
      </p:sp>
      <p:sp>
        <p:nvSpPr>
          <p:cNvPr id="23" name="Text 14"/>
          <p:cNvSpPr/>
          <p:nvPr/>
        </p:nvSpPr>
        <p:spPr>
          <a:xfrm>
            <a:off x="0" y="4828580"/>
            <a:ext cx="9144000" cy="31492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0" y="4828580"/>
            <a:ext cx="9144000" cy="9525"/>
          </a:xfrm>
          <a:prstGeom prst="rect">
            <a:avLst/>
          </a:prstGeom>
          <a:solidFill>
            <a:srgbClr val="4F8EF7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3">
            <a:alphaModFix amt="75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485" y="4924434"/>
            <a:ext cx="132588" cy="1325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6658" y="4926062"/>
            <a:ext cx="335541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root: C:\Users\malha\Documents\rag_phone_project</a:t>
            </a:r>
            <a:endParaRPr lang="en-US" sz="680" dirty="0"/>
          </a:p>
        </p:txBody>
      </p:sp>
      <p:sp>
        <p:nvSpPr>
          <p:cNvPr id="27" name="Text 17"/>
          <p:cNvSpPr/>
          <p:nvPr/>
        </p:nvSpPr>
        <p:spPr>
          <a:xfrm>
            <a:off x="6299895" y="4931718"/>
            <a:ext cx="262559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&amp; LOCAL / CLOUD LLM · JUNE 2026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gradFill rotWithShape="1">
            <a:gsLst>
              <a:gs pos="0">
                <a:srgbClr val="162B44"/>
              </a:gs>
              <a:gs pos="60000">
                <a:srgbClr val="0D1B2A"/>
              </a:gs>
              <a:gs pos="100000">
                <a:srgbClr val="0D1B2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28750" y="0"/>
            <a:ext cx="2429470" cy="1572220"/>
          </a:xfrm>
          <a:prstGeom prst="ellipse">
            <a:avLst/>
          </a:prstGeom>
          <a:gradFill rotWithShape="1">
            <a:gsLst>
              <a:gs pos="0">
                <a:srgbClr val="4F8E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809" y="3857030"/>
            <a:ext cx="1857970" cy="1286470"/>
          </a:xfrm>
          <a:prstGeom prst="ellipse">
            <a:avLst/>
          </a:prstGeom>
          <a:gradFill rotWithShape="1">
            <a:gsLst>
              <a:gs pos="0">
                <a:srgbClr val="4F8E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25316" y="898178"/>
            <a:ext cx="29170" cy="659011"/>
          </a:xfrm>
          <a:custGeom>
            <a:avLst/>
            <a:gdLst/>
            <a:ahLst/>
            <a:cxnLst/>
            <a:rect l="l" t="t" r="r" b="b"/>
            <a:pathLst>
              <a:path w="29170" h="659011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629409"/>
                </a:lnTo>
                <a:lnTo>
                  <a:pt x="25524" y="625540"/>
                </a:lnTo>
                <a:lnTo>
                  <a:pt x="21878" y="621222"/>
                </a:lnTo>
                <a:lnTo>
                  <a:pt x="18231" y="616352"/>
                </a:lnTo>
                <a:lnTo>
                  <a:pt x="14585" y="610777"/>
                </a:lnTo>
                <a:lnTo>
                  <a:pt x="10939" y="604237"/>
                </a:lnTo>
                <a:lnTo>
                  <a:pt x="7293" y="596233"/>
                </a:lnTo>
                <a:lnTo>
                  <a:pt x="3646" y="585484"/>
                </a:lnTo>
                <a:lnTo>
                  <a:pt x="0" y="558681"/>
                </a:lnTo>
                <a:close/>
              </a:path>
            </a:pathLst>
          </a:custGeom>
          <a:solidFill>
            <a:srgbClr val="F9727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25316" y="1704380"/>
            <a:ext cx="29170" cy="793700"/>
          </a:xfrm>
          <a:custGeom>
            <a:avLst/>
            <a:gdLst/>
            <a:ahLst/>
            <a:cxnLst/>
            <a:rect l="l" t="t" r="r" b="b"/>
            <a:pathLst>
              <a:path w="29170" h="793700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764098"/>
                </a:lnTo>
                <a:lnTo>
                  <a:pt x="25524" y="760230"/>
                </a:lnTo>
                <a:lnTo>
                  <a:pt x="21878" y="755911"/>
                </a:lnTo>
                <a:lnTo>
                  <a:pt x="18231" y="751041"/>
                </a:lnTo>
                <a:lnTo>
                  <a:pt x="14585" y="745466"/>
                </a:lnTo>
                <a:lnTo>
                  <a:pt x="10939" y="738926"/>
                </a:lnTo>
                <a:lnTo>
                  <a:pt x="7293" y="730922"/>
                </a:lnTo>
                <a:lnTo>
                  <a:pt x="3646" y="720173"/>
                </a:lnTo>
                <a:lnTo>
                  <a:pt x="0" y="693370"/>
                </a:lnTo>
                <a:close/>
              </a:path>
            </a:pathLst>
          </a:custGeom>
          <a:solidFill>
            <a:srgbClr val="F4C842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5316" y="2645271"/>
            <a:ext cx="29170" cy="793700"/>
          </a:xfrm>
          <a:custGeom>
            <a:avLst/>
            <a:gdLst/>
            <a:ahLst/>
            <a:cxnLst/>
            <a:rect l="l" t="t" r="r" b="b"/>
            <a:pathLst>
              <a:path w="29170" h="793700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764098"/>
                </a:lnTo>
                <a:lnTo>
                  <a:pt x="25524" y="760230"/>
                </a:lnTo>
                <a:lnTo>
                  <a:pt x="21878" y="755911"/>
                </a:lnTo>
                <a:lnTo>
                  <a:pt x="18231" y="751041"/>
                </a:lnTo>
                <a:lnTo>
                  <a:pt x="14585" y="745466"/>
                </a:lnTo>
                <a:lnTo>
                  <a:pt x="10939" y="738926"/>
                </a:lnTo>
                <a:lnTo>
                  <a:pt x="7293" y="730922"/>
                </a:lnTo>
                <a:lnTo>
                  <a:pt x="3646" y="720173"/>
                </a:lnTo>
                <a:lnTo>
                  <a:pt x="0" y="69337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25316" y="3586163"/>
            <a:ext cx="29170" cy="659011"/>
          </a:xfrm>
          <a:custGeom>
            <a:avLst/>
            <a:gdLst/>
            <a:ahLst/>
            <a:cxnLst/>
            <a:rect l="l" t="t" r="r" b="b"/>
            <a:pathLst>
              <a:path w="29170" h="659011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629409"/>
                </a:lnTo>
                <a:lnTo>
                  <a:pt x="25524" y="625540"/>
                </a:lnTo>
                <a:lnTo>
                  <a:pt x="21878" y="621222"/>
                </a:lnTo>
                <a:lnTo>
                  <a:pt x="18231" y="616352"/>
                </a:lnTo>
                <a:lnTo>
                  <a:pt x="14585" y="610777"/>
                </a:lnTo>
                <a:lnTo>
                  <a:pt x="10939" y="604237"/>
                </a:lnTo>
                <a:lnTo>
                  <a:pt x="7293" y="596233"/>
                </a:lnTo>
                <a:lnTo>
                  <a:pt x="3646" y="585484"/>
                </a:lnTo>
                <a:lnTo>
                  <a:pt x="0" y="558681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5750" y="1722686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4F8E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5750" y="1902916"/>
            <a:ext cx="1632204" cy="76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2"/>
              </a:lnSpc>
              <a:spcAft>
                <a:spcPts val="1350"/>
              </a:spcAft>
              <a:buNone/>
            </a:pPr>
            <a:r>
              <a:rPr lang="en-US" sz="248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Motivation</a:t>
            </a:r>
            <a:br/>
            <a:pPr algn="l" indent="0" marL="0">
              <a:lnSpc>
                <a:spcPts val="2852"/>
              </a:lnSpc>
              <a:spcAft>
                <a:spcPts val="1350"/>
              </a:spcAft>
              <a:buNone/>
            </a:pPr>
            <a:r>
              <a:rPr lang="en-US" sz="248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</a:t>
            </a:r>
            <a:pPr algn="l" indent="0" marL="0">
              <a:lnSpc>
                <a:spcPts val="2852"/>
              </a:lnSpc>
              <a:spcAft>
                <a:spcPts val="1350"/>
              </a:spcAft>
              <a:buNone/>
            </a:pPr>
            <a:r>
              <a:rPr lang="en-US" sz="2480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Goals</a:t>
            </a:r>
            <a:endParaRPr lang="en-US" sz="2480" dirty="0"/>
          </a:p>
        </p:txBody>
      </p:sp>
      <p:sp>
        <p:nvSpPr>
          <p:cNvPr id="13" name="Text 11"/>
          <p:cNvSpPr/>
          <p:nvPr/>
        </p:nvSpPr>
        <p:spPr>
          <a:xfrm>
            <a:off x="285750" y="2798564"/>
            <a:ext cx="3429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5750" y="2991594"/>
            <a:ext cx="1632204" cy="50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79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RAG system for phone documentation — and what we set out to achieve.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2515791" y="888653"/>
            <a:ext cx="6228159" cy="678061"/>
          </a:xfrm>
          <a:prstGeom prst="roundRect">
            <a:avLst>
              <a:gd name="adj" fmla="val 14797"/>
            </a:avLst>
          </a:prstGeom>
          <a:solidFill>
            <a:srgbClr val="1A2D45">
              <a:alpha val="70000"/>
            </a:srgbClr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96766" y="1041648"/>
            <a:ext cx="372070" cy="409277"/>
          </a:xfrm>
          <a:prstGeom prst="roundRect">
            <a:avLst>
              <a:gd name="adj" fmla="val 23211"/>
            </a:avLst>
          </a:prstGeom>
          <a:solidFill>
            <a:srgbClr val="F97272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12306" y="1041648"/>
            <a:ext cx="58857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12" kern="0" dirty="0">
                <a:solidFill>
                  <a:srgbClr val="F97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3212306" y="1195090"/>
            <a:ext cx="5885736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struggle to find specific information buried in long phone manuals and spec sheets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2515791" y="1694855"/>
            <a:ext cx="6228159" cy="812750"/>
          </a:xfrm>
          <a:prstGeom prst="roundRect">
            <a:avLst>
              <a:gd name="adj" fmla="val 12344"/>
            </a:avLst>
          </a:prstGeom>
          <a:solidFill>
            <a:srgbClr val="1A2D45">
              <a:alpha val="70000"/>
            </a:srgbClr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96766" y="1847850"/>
            <a:ext cx="372070" cy="409277"/>
          </a:xfrm>
          <a:prstGeom prst="roundRect">
            <a:avLst>
              <a:gd name="adj" fmla="val 23211"/>
            </a:avLst>
          </a:prstGeom>
          <a:solidFill>
            <a:srgbClr val="F4C842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12306" y="1847850"/>
            <a:ext cx="58857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12" kern="0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3212306" y="2001292"/>
            <a:ext cx="5457682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RAG system that retrieves relevant passages and generates precise, grounded answers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2515791" y="2635746"/>
            <a:ext cx="6228159" cy="812750"/>
          </a:xfrm>
          <a:prstGeom prst="roundRect">
            <a:avLst>
              <a:gd name="adj" fmla="val 12344"/>
            </a:avLst>
          </a:prstGeom>
          <a:solidFill>
            <a:srgbClr val="1A2D45">
              <a:alpha val="70000"/>
            </a:srgbClr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96766" y="2788741"/>
            <a:ext cx="372070" cy="409277"/>
          </a:xfrm>
          <a:prstGeom prst="roundRect">
            <a:avLst>
              <a:gd name="adj" fmla="val 23211"/>
            </a:avLst>
          </a:prstGeom>
          <a:solidFill>
            <a:srgbClr val="4FD1C5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212306" y="2788741"/>
            <a:ext cx="58857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12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GOAL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3212306" y="2942183"/>
            <a:ext cx="5457682" cy="37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lexical (BM25) and semantic (embedding) retrieval with LLM generation for high-accuracy Q&amp;A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2515791" y="3576638"/>
            <a:ext cx="6228159" cy="678061"/>
          </a:xfrm>
          <a:prstGeom prst="roundRect">
            <a:avLst>
              <a:gd name="adj" fmla="val 14797"/>
            </a:avLst>
          </a:prstGeom>
          <a:solidFill>
            <a:srgbClr val="1A2D45">
              <a:alpha val="70000"/>
            </a:srgbClr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96766" y="3729633"/>
            <a:ext cx="372070" cy="409277"/>
          </a:xfrm>
          <a:prstGeom prst="roundRect">
            <a:avLst>
              <a:gd name="adj" fmla="val 23211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12306" y="3729633"/>
            <a:ext cx="58857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1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GOAL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3212306" y="3883075"/>
            <a:ext cx="5885736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end-to-end pipeline design, evaluation, and deployment using open-source tooling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2143720" y="342900"/>
            <a:ext cx="7590" cy="44577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4F8EF7">
                  <a:alpha val="35000"/>
                </a:srgbClr>
              </a:gs>
              <a:gs pos="70000">
                <a:srgbClr val="4F8EF7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143720" y="4799112"/>
            <a:ext cx="7000280" cy="354720"/>
          </a:xfrm>
          <a:prstGeom prst="rect">
            <a:avLst/>
          </a:prstGeom>
          <a:solidFill>
            <a:srgbClr val="09101B">
              <a:alpha val="85000"/>
            </a:srgbClr>
          </a:solidFill>
          <a:ln/>
        </p:spPr>
        <p:txBody>
          <a:bodyPr wrap="square" lIns="372110" tIns="49530" rIns="372110" bIns="49530" rtlCol="0" anchor="t"/>
          <a:lstStyle/>
          <a:p>
            <a:pPr algn="l" indent="0" marL="0">
              <a:lnSpc>
                <a:spcPts val="930"/>
              </a:lnSpc>
              <a:buNone/>
            </a:pPr>
            <a:pPr algn="l" indent="0" marL="0">
              <a:lnSpc>
                <a:spcPts val="930"/>
              </a:lnSpc>
              <a:buNone/>
            </a:pPr>
            <a:r>
              <a:rPr lang="en-US" sz="620" b="1" spc="6" kern="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notes:</a:t>
            </a:r>
            <a:pPr algn="l" indent="0" marL="0">
              <a:lnSpc>
                <a:spcPts val="930"/>
              </a:lnSpc>
              <a:buNone/>
            </a:pPr>
            <a:r>
              <a:rPr lang="en-US" sz="620" spc="6" kern="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Naive keyword search misses semantic intent — e.g. "battery lasting" vs "battery life". RAG grounds LLM answers in retrieved evidence, dramatically reducing hallucinations by tying generation to source passages.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2143720" y="4799112"/>
            <a:ext cx="7000280" cy="9525"/>
          </a:xfrm>
          <a:prstGeom prst="rect">
            <a:avLst/>
          </a:prstGeom>
          <a:solidFill>
            <a:srgbClr val="4F8EF7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821234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86360" y="0"/>
                </a:moveTo>
                <a:lnTo>
                  <a:pt x="2542092" y="0"/>
                </a:lnTo>
                <a:lnTo>
                  <a:pt x="2563508" y="2698"/>
                </a:lnTo>
                <a:lnTo>
                  <a:pt x="2572138" y="5395"/>
                </a:lnTo>
                <a:lnTo>
                  <a:pt x="2578592" y="8093"/>
                </a:lnTo>
                <a:lnTo>
                  <a:pt x="2583892" y="10790"/>
                </a:lnTo>
                <a:lnTo>
                  <a:pt x="2588435" y="13488"/>
                </a:lnTo>
                <a:lnTo>
                  <a:pt x="2592426" y="16185"/>
                </a:lnTo>
                <a:lnTo>
                  <a:pt x="2595989" y="18883"/>
                </a:lnTo>
                <a:lnTo>
                  <a:pt x="25992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4F8EF7"/>
              </a:gs>
              <a:gs pos="100000">
                <a:srgbClr val="7AB3F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57699" y="821234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86360" y="0"/>
                </a:moveTo>
                <a:lnTo>
                  <a:pt x="2542092" y="0"/>
                </a:lnTo>
                <a:lnTo>
                  <a:pt x="2563508" y="2698"/>
                </a:lnTo>
                <a:lnTo>
                  <a:pt x="2572138" y="5395"/>
                </a:lnTo>
                <a:lnTo>
                  <a:pt x="2578592" y="8093"/>
                </a:lnTo>
                <a:lnTo>
                  <a:pt x="2583892" y="10790"/>
                </a:lnTo>
                <a:lnTo>
                  <a:pt x="2588435" y="13488"/>
                </a:lnTo>
                <a:lnTo>
                  <a:pt x="2592426" y="16185"/>
                </a:lnTo>
                <a:lnTo>
                  <a:pt x="2595989" y="18883"/>
                </a:lnTo>
                <a:lnTo>
                  <a:pt x="259920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38C9B0"/>
              </a:gs>
              <a:gs pos="100000">
                <a:srgbClr val="5EEA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48673" y="821234"/>
            <a:ext cx="2628605" cy="21580"/>
          </a:xfrm>
          <a:custGeom>
            <a:avLst/>
            <a:gdLst/>
            <a:ahLst/>
            <a:cxnLst/>
            <a:rect l="l" t="t" r="r" b="b"/>
            <a:pathLst>
              <a:path w="2628605" h="21580">
                <a:moveTo>
                  <a:pt x="86360" y="0"/>
                </a:moveTo>
                <a:lnTo>
                  <a:pt x="2542245" y="0"/>
                </a:lnTo>
                <a:lnTo>
                  <a:pt x="2563660" y="2698"/>
                </a:lnTo>
                <a:lnTo>
                  <a:pt x="2572290" y="5395"/>
                </a:lnTo>
                <a:lnTo>
                  <a:pt x="2578745" y="8093"/>
                </a:lnTo>
                <a:lnTo>
                  <a:pt x="2584045" y="10790"/>
                </a:lnTo>
                <a:lnTo>
                  <a:pt x="2588587" y="13488"/>
                </a:lnTo>
                <a:lnTo>
                  <a:pt x="2592579" y="16185"/>
                </a:lnTo>
                <a:lnTo>
                  <a:pt x="2596141" y="18883"/>
                </a:lnTo>
                <a:lnTo>
                  <a:pt x="259935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F7A94F"/>
              </a:gs>
              <a:gs pos="100000">
                <a:srgbClr val="FCD34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0" y="3714750"/>
            <a:ext cx="1428750" cy="1428750"/>
          </a:xfrm>
          <a:prstGeom prst="rect">
            <a:avLst/>
          </a:prstGeom>
          <a:gradFill rotWithShape="1">
            <a:gsLst>
              <a:gs pos="0">
                <a:srgbClr val="4F8EF7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33077"/>
            <a:ext cx="924035" cy="216396"/>
          </a:xfrm>
          <a:prstGeom prst="roundRect">
            <a:avLst>
              <a:gd name="adj" fmla="val 19954"/>
            </a:avLst>
          </a:prstGeom>
          <a:solidFill>
            <a:srgbClr val="4F8EF7">
              <a:alpha val="18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lIns="213013" tIns="29210" rIns="86360" bIns="29210" rtlCol="0" anchor="ctr"/>
          <a:lstStyle/>
          <a:p>
            <a:pPr algn="l" indent="0" marL="0">
              <a:buNone/>
            </a:pPr>
            <a:r>
              <a:rPr lang="en-US" sz="730" spc="29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3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503" y="374907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77417" y="299591"/>
            <a:ext cx="2897483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spc="-2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 &amp; </a:t>
            </a:r>
            <a:pPr algn="l" indent="0" marL="0">
              <a:lnSpc>
                <a:spcPts val="2233"/>
              </a:lnSpc>
              <a:buNone/>
            </a:pPr>
            <a:r>
              <a:rPr lang="en-US" sz="2030" spc="-20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Sources</a:t>
            </a:r>
            <a:endParaRPr lang="en-US" sz="2030" dirty="0"/>
          </a:p>
        </p:txBody>
      </p:sp>
      <p:sp>
        <p:nvSpPr>
          <p:cNvPr id="11" name="Text 8"/>
          <p:cNvSpPr/>
          <p:nvPr/>
        </p:nvSpPr>
        <p:spPr>
          <a:xfrm>
            <a:off x="4413945" y="437555"/>
            <a:ext cx="4272855" cy="7590"/>
          </a:xfrm>
          <a:prstGeom prst="rect">
            <a:avLst/>
          </a:prstGeom>
          <a:gradFill rotWithShape="1">
            <a:gsLst>
              <a:gs pos="0">
                <a:srgbClr val="4F8EF7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7200" y="811709"/>
            <a:ext cx="2647504" cy="3425577"/>
          </a:xfrm>
          <a:prstGeom prst="roundRect">
            <a:avLst>
              <a:gd name="adj" fmla="val 3262"/>
            </a:avLst>
          </a:prstGeom>
          <a:solidFill>
            <a:srgbClr val="1A2D45"/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8175" y="1021854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4F8EF7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903" y="1132582"/>
            <a:ext cx="150465" cy="1504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175" y="1508224"/>
            <a:ext cx="251410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62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DOCUMENTS</a:t>
            </a:r>
            <a:endParaRPr lang="en-US" sz="620" dirty="0"/>
          </a:p>
        </p:txBody>
      </p:sp>
      <p:sp>
        <p:nvSpPr>
          <p:cNvPr id="16" name="Text 12"/>
          <p:cNvSpPr/>
          <p:nvPr/>
        </p:nvSpPr>
        <p:spPr>
          <a:xfrm>
            <a:off x="638175" y="1669405"/>
            <a:ext cx="2514109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 Corpus</a:t>
            </a:r>
            <a:endParaRPr lang="en-US" sz="1240" dirty="0"/>
          </a:p>
        </p:txBody>
      </p:sp>
      <p:sp>
        <p:nvSpPr>
          <p:cNvPr id="17" name="Text 13"/>
          <p:cNvSpPr/>
          <p:nvPr/>
        </p:nvSpPr>
        <p:spPr>
          <a:xfrm>
            <a:off x="730746" y="1954113"/>
            <a:ext cx="190903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manuals &amp; user guides (PDF)</a:t>
            </a:r>
            <a:endParaRPr lang="en-US" sz="840" dirty="0"/>
          </a:p>
        </p:txBody>
      </p:sp>
      <p:sp>
        <p:nvSpPr>
          <p:cNvPr id="18" name="Text 14"/>
          <p:cNvSpPr/>
          <p:nvPr/>
        </p:nvSpPr>
        <p:spPr>
          <a:xfrm>
            <a:off x="638175" y="1987748"/>
            <a:ext cx="35421" cy="35421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30746" y="2152799"/>
            <a:ext cx="17790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sheets ingested as plain text</a:t>
            </a:r>
            <a:endParaRPr lang="en-US" sz="840" dirty="0"/>
          </a:p>
        </p:txBody>
      </p:sp>
      <p:sp>
        <p:nvSpPr>
          <p:cNvPr id="20" name="Text 16"/>
          <p:cNvSpPr/>
          <p:nvPr/>
        </p:nvSpPr>
        <p:spPr>
          <a:xfrm>
            <a:off x="638175" y="2186434"/>
            <a:ext cx="35421" cy="35421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30746" y="2351484"/>
            <a:ext cx="17787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documents &amp; support articles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638175" y="2385120"/>
            <a:ext cx="35421" cy="35421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730746" y="2550170"/>
            <a:ext cx="8796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by </a:t>
            </a:r>
            <a:pPr algn="l" indent="0" marL="0">
              <a:lnSpc>
                <a:spcPts val="1176"/>
              </a:lnSpc>
              <a:buNone/>
            </a:pPr>
            <a:r>
              <a:rPr lang="en-US" sz="730" dirty="0">
                <a:solidFill>
                  <a:srgbClr val="4F8EF7"/>
                </a:solidFill>
                <a:highlight>
                  <a:srgbClr val="4F8EF7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840" dirty="0"/>
          </a:p>
        </p:txBody>
      </p:sp>
      <p:sp>
        <p:nvSpPr>
          <p:cNvPr id="24" name="Text 20"/>
          <p:cNvSpPr/>
          <p:nvPr/>
        </p:nvSpPr>
        <p:spPr>
          <a:xfrm>
            <a:off x="638175" y="2583805"/>
            <a:ext cx="35421" cy="35421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248174" y="811709"/>
            <a:ext cx="2647504" cy="3425577"/>
          </a:xfrm>
          <a:prstGeom prst="roundRect">
            <a:avLst>
              <a:gd name="adj" fmla="val 3262"/>
            </a:avLst>
          </a:prstGeom>
          <a:solidFill>
            <a:srgbClr val="1A2D45"/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429149" y="1021854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38C9B0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9877" y="1132582"/>
            <a:ext cx="150465" cy="15046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429149" y="1508224"/>
            <a:ext cx="251410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62" kern="0" dirty="0">
                <a:solidFill>
                  <a:srgbClr val="3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VECTOR STORE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3429149" y="1669405"/>
            <a:ext cx="2514109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Semantic Index</a:t>
            </a:r>
            <a:endParaRPr lang="en-US" sz="1240" dirty="0"/>
          </a:p>
        </p:txBody>
      </p:sp>
      <p:sp>
        <p:nvSpPr>
          <p:cNvPr id="30" name="Text 25"/>
          <p:cNvSpPr/>
          <p:nvPr/>
        </p:nvSpPr>
        <p:spPr>
          <a:xfrm>
            <a:off x="3521720" y="1954113"/>
            <a:ext cx="2144848" cy="276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embedded via sentence-transformer model</a:t>
            </a:r>
            <a:endParaRPr lang="en-US" sz="840" dirty="0"/>
          </a:p>
        </p:txBody>
      </p:sp>
      <p:sp>
        <p:nvSpPr>
          <p:cNvPr id="31" name="Text 26"/>
          <p:cNvSpPr/>
          <p:nvPr/>
        </p:nvSpPr>
        <p:spPr>
          <a:xfrm>
            <a:off x="3429149" y="1987748"/>
            <a:ext cx="35421" cy="35421"/>
          </a:xfrm>
          <a:prstGeom prst="ellipse">
            <a:avLst/>
          </a:prstGeom>
          <a:solidFill>
            <a:srgbClr val="38C9B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521720" y="2302073"/>
            <a:ext cx="1981355" cy="276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vectors stored for cosine similarity search</a:t>
            </a:r>
            <a:endParaRPr lang="en-US" sz="840" dirty="0"/>
          </a:p>
        </p:txBody>
      </p:sp>
      <p:sp>
        <p:nvSpPr>
          <p:cNvPr id="33" name="Text 28"/>
          <p:cNvSpPr/>
          <p:nvPr/>
        </p:nvSpPr>
        <p:spPr>
          <a:xfrm>
            <a:off x="3429149" y="2335709"/>
            <a:ext cx="35421" cy="35421"/>
          </a:xfrm>
          <a:prstGeom prst="ellipse">
            <a:avLst/>
          </a:prstGeom>
          <a:solidFill>
            <a:srgbClr val="38C9B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521720" y="2650034"/>
            <a:ext cx="21698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semantic &amp; paraphrase matching</a:t>
            </a:r>
            <a:endParaRPr lang="en-US" sz="840" dirty="0"/>
          </a:p>
        </p:txBody>
      </p:sp>
      <p:sp>
        <p:nvSpPr>
          <p:cNvPr id="35" name="Text 30"/>
          <p:cNvSpPr/>
          <p:nvPr/>
        </p:nvSpPr>
        <p:spPr>
          <a:xfrm>
            <a:off x="3429149" y="2683669"/>
            <a:ext cx="35421" cy="35421"/>
          </a:xfrm>
          <a:prstGeom prst="ellipse">
            <a:avLst/>
          </a:prstGeom>
          <a:solidFill>
            <a:srgbClr val="38C9B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3521720" y="2839194"/>
            <a:ext cx="1754490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</a:t>
            </a:r>
            <a:pPr algn="l" indent="0" marL="0">
              <a:lnSpc>
                <a:spcPts val="1176"/>
              </a:lnSpc>
              <a:buNone/>
            </a:pPr>
            <a:r>
              <a:rPr lang="en-US" sz="840" i="1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 search at query time</a:t>
            </a:r>
            <a:endParaRPr lang="en-US" sz="840" dirty="0"/>
          </a:p>
        </p:txBody>
      </p:sp>
      <p:sp>
        <p:nvSpPr>
          <p:cNvPr id="37" name="Text 32"/>
          <p:cNvSpPr/>
          <p:nvPr/>
        </p:nvSpPr>
        <p:spPr>
          <a:xfrm>
            <a:off x="3429149" y="2882354"/>
            <a:ext cx="35421" cy="35421"/>
          </a:xfrm>
          <a:prstGeom prst="ellipse">
            <a:avLst/>
          </a:prstGeom>
          <a:solidFill>
            <a:srgbClr val="38C9B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039148" y="811709"/>
            <a:ext cx="2647652" cy="3425577"/>
          </a:xfrm>
          <a:prstGeom prst="roundRect">
            <a:avLst>
              <a:gd name="adj" fmla="val 3262"/>
            </a:avLst>
          </a:prstGeom>
          <a:solidFill>
            <a:srgbClr val="1A2D45"/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220123" y="1021854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F7A94F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0851" y="1132582"/>
            <a:ext cx="150465" cy="15046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220123" y="1508224"/>
            <a:ext cx="251427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62" kern="0" dirty="0">
                <a:solidFill>
                  <a:srgbClr val="F7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BM25 INDEX</a:t>
            </a:r>
            <a:endParaRPr lang="en-US" sz="620" dirty="0"/>
          </a:p>
        </p:txBody>
      </p:sp>
      <p:sp>
        <p:nvSpPr>
          <p:cNvPr id="42" name="Text 36"/>
          <p:cNvSpPr/>
          <p:nvPr/>
        </p:nvSpPr>
        <p:spPr>
          <a:xfrm>
            <a:off x="6220123" y="1669405"/>
            <a:ext cx="2514273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4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Lexical Index</a:t>
            </a:r>
            <a:endParaRPr lang="en-US" sz="1240" dirty="0"/>
          </a:p>
        </p:txBody>
      </p:sp>
      <p:sp>
        <p:nvSpPr>
          <p:cNvPr id="43" name="Text 37"/>
          <p:cNvSpPr/>
          <p:nvPr/>
        </p:nvSpPr>
        <p:spPr>
          <a:xfrm>
            <a:off x="6312694" y="1954113"/>
            <a:ext cx="224791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sparse index over the same corpus</a:t>
            </a:r>
            <a:endParaRPr lang="en-US" sz="840" dirty="0"/>
          </a:p>
        </p:txBody>
      </p:sp>
      <p:sp>
        <p:nvSpPr>
          <p:cNvPr id="44" name="Text 38"/>
          <p:cNvSpPr/>
          <p:nvPr/>
        </p:nvSpPr>
        <p:spPr>
          <a:xfrm>
            <a:off x="6220123" y="1987748"/>
            <a:ext cx="35421" cy="35421"/>
          </a:xfrm>
          <a:prstGeom prst="ellipse">
            <a:avLst/>
          </a:prstGeom>
          <a:solidFill>
            <a:srgbClr val="F7A94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312694" y="2152799"/>
            <a:ext cx="19347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style exact keyword matching</a:t>
            </a:r>
            <a:endParaRPr lang="en-US" sz="840" dirty="0"/>
          </a:p>
        </p:txBody>
      </p:sp>
      <p:sp>
        <p:nvSpPr>
          <p:cNvPr id="46" name="Text 40"/>
          <p:cNvSpPr/>
          <p:nvPr/>
        </p:nvSpPr>
        <p:spPr>
          <a:xfrm>
            <a:off x="6220123" y="2186434"/>
            <a:ext cx="35421" cy="35421"/>
          </a:xfrm>
          <a:prstGeom prst="ellipse">
            <a:avLst/>
          </a:prstGeom>
          <a:solidFill>
            <a:srgbClr val="F7A94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312694" y="2351484"/>
            <a:ext cx="239099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rare terms &amp; out-of-vocabulary words</a:t>
            </a:r>
            <a:endParaRPr lang="en-US" sz="840" dirty="0"/>
          </a:p>
        </p:txBody>
      </p:sp>
      <p:sp>
        <p:nvSpPr>
          <p:cNvPr id="48" name="Text 42"/>
          <p:cNvSpPr/>
          <p:nvPr/>
        </p:nvSpPr>
        <p:spPr>
          <a:xfrm>
            <a:off x="6220123" y="2385120"/>
            <a:ext cx="35421" cy="35421"/>
          </a:xfrm>
          <a:prstGeom prst="ellipse">
            <a:avLst/>
          </a:prstGeom>
          <a:solidFill>
            <a:srgbClr val="F7A94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6312694" y="2550170"/>
            <a:ext cx="16158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inverted-index lookups via </a:t>
            </a:r>
            <a:pPr algn="l" indent="0" marL="0">
              <a:lnSpc>
                <a:spcPts val="1176"/>
              </a:lnSpc>
              <a:buNone/>
            </a:pPr>
            <a:r>
              <a:rPr lang="en-US" sz="730" dirty="0">
                <a:solidFill>
                  <a:srgbClr val="F7A94F"/>
                </a:solidFill>
                <a:highlight>
                  <a:srgbClr val="F7A94F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rank_bm25</a:t>
            </a:r>
            <a:endParaRPr lang="en-US" sz="840" dirty="0"/>
          </a:p>
        </p:txBody>
      </p:sp>
      <p:sp>
        <p:nvSpPr>
          <p:cNvPr id="50" name="Text 44"/>
          <p:cNvSpPr/>
          <p:nvPr/>
        </p:nvSpPr>
        <p:spPr>
          <a:xfrm>
            <a:off x="6220123" y="2583805"/>
            <a:ext cx="35421" cy="35421"/>
          </a:xfrm>
          <a:prstGeom prst="ellipse">
            <a:avLst/>
          </a:prstGeom>
          <a:solidFill>
            <a:srgbClr val="F7A94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457200" y="4365427"/>
            <a:ext cx="8229600" cy="520303"/>
          </a:xfrm>
          <a:prstGeom prst="roundRect">
            <a:avLst>
              <a:gd name="adj" fmla="val 10984"/>
            </a:avLst>
          </a:prstGeom>
          <a:solidFill>
            <a:srgbClr val="4F8EF7">
              <a:alpha val="7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457200" y="4365427"/>
            <a:ext cx="19050" cy="520303"/>
          </a:xfrm>
          <a:custGeom>
            <a:avLst/>
            <a:gdLst/>
            <a:ahLst/>
            <a:cxnLst/>
            <a:rect l="l" t="t" r="r" b="b"/>
            <a:pathLst>
              <a:path w="19050" h="52030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505750"/>
                </a:lnTo>
                <a:lnTo>
                  <a:pt x="16669" y="503494"/>
                </a:lnTo>
                <a:lnTo>
                  <a:pt x="14288" y="500954"/>
                </a:lnTo>
                <a:lnTo>
                  <a:pt x="11906" y="498069"/>
                </a:lnTo>
                <a:lnTo>
                  <a:pt x="9525" y="494744"/>
                </a:lnTo>
                <a:lnTo>
                  <a:pt x="7144" y="490821"/>
                </a:lnTo>
                <a:lnTo>
                  <a:pt x="4763" y="485993"/>
                </a:lnTo>
                <a:lnTo>
                  <a:pt x="2381" y="479478"/>
                </a:lnTo>
                <a:lnTo>
                  <a:pt x="0" y="463153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7228" y="4559210"/>
            <a:ext cx="132588" cy="132588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827633" y="4467523"/>
            <a:ext cx="7860295" cy="33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2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strategy: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fixed-size chunks with overlap to preserve context across boundaries — chunk size </a:t>
            </a:r>
            <a:pPr algn="l" indent="0" marL="0">
              <a:lnSpc>
                <a:spcPts val="1230"/>
              </a:lnSpc>
              <a:buNone/>
            </a:pPr>
            <a:r>
              <a:rPr lang="en-US" sz="730" dirty="0">
                <a:solidFill>
                  <a:srgbClr val="4F8EF7"/>
                </a:solidFill>
                <a:highlight>
                  <a:srgbClr val="4F8EF7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tokens, overlap </a:t>
            </a:r>
            <a:pPr algn="l" indent="0" marL="0">
              <a:lnSpc>
                <a:spcPts val="1230"/>
              </a:lnSpc>
              <a:buNone/>
            </a:pPr>
            <a:r>
              <a:rPr lang="en-US" sz="730" dirty="0">
                <a:solidFill>
                  <a:srgbClr val="4F8EF7"/>
                </a:solidFill>
                <a:highlight>
                  <a:srgbClr val="4F8EF7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tokens. Both indices built over identical chunks. Files stored under the </a:t>
            </a:r>
            <a:pPr algn="l" indent="0" marL="0">
              <a:lnSpc>
                <a:spcPts val="1230"/>
              </a:lnSpc>
              <a:buNone/>
            </a:pPr>
            <a:r>
              <a:rPr lang="en-US" sz="730" dirty="0">
                <a:solidFill>
                  <a:srgbClr val="4F8EF7"/>
                </a:solidFill>
                <a:highlight>
                  <a:srgbClr val="4F8EF7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ingestion/</a:t>
            </a:r>
            <a:pPr algn="l" indent="0" marL="0">
              <a:lnSpc>
                <a:spcPts val="1230"/>
              </a:lnSpc>
              <a:buNone/>
            </a:pPr>
            <a:r>
              <a:rPr lang="en-US" sz="82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directory.</a:t>
            </a:r>
            <a:endParaRPr lang="en-US" sz="820" dirty="0"/>
          </a:p>
        </p:txBody>
      </p:sp>
      <p:sp>
        <p:nvSpPr>
          <p:cNvPr id="55" name="Text 48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4F8EF7"/>
              </a:gs>
              <a:gs pos="50000">
                <a:srgbClr val="38C9B0"/>
              </a:gs>
              <a:gs pos="100000">
                <a:srgbClr val="F7A94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4F8EF7"/>
              </a:gs>
              <a:gs pos="50000">
                <a:srgbClr val="6FA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57015" y="1502783"/>
            <a:ext cx="6429970" cy="2429470"/>
          </a:xfrm>
          <a:prstGeom prst="rect">
            <a:avLst/>
          </a:prstGeom>
          <a:gradFill rotWithShape="1">
            <a:gsLst>
              <a:gs pos="0">
                <a:srgbClr val="4F8E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2944" y="1848594"/>
            <a:ext cx="1267416" cy="1756620"/>
          </a:xfrm>
          <a:prstGeom prst="roundRect">
            <a:avLst>
              <a:gd name="adj" fmla="val 7916"/>
            </a:avLst>
          </a:prstGeom>
          <a:gradFill rotWithShape="1">
            <a:gsLst>
              <a:gs pos="0">
                <a:srgbClr val="4F8EF7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94334" y="1848594"/>
            <a:ext cx="1267416" cy="1756620"/>
          </a:xfrm>
          <a:prstGeom prst="roundRect">
            <a:avLst>
              <a:gd name="adj" fmla="val 7916"/>
            </a:avLst>
          </a:prstGeom>
          <a:gradFill rotWithShape="1">
            <a:gsLst>
              <a:gs pos="0">
                <a:srgbClr val="4F8EF7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95725" y="1865858"/>
            <a:ext cx="1352550" cy="1651102"/>
          </a:xfrm>
          <a:prstGeom prst="roundRect">
            <a:avLst>
              <a:gd name="adj" fmla="val 7418"/>
            </a:avLst>
          </a:prstGeom>
          <a:gradFill rotWithShape="1">
            <a:gsLst>
              <a:gs pos="0">
                <a:srgbClr val="4F8EF7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43350" y="1793974"/>
            <a:ext cx="57150" cy="285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82245" y="1848594"/>
            <a:ext cx="1267416" cy="1756620"/>
          </a:xfrm>
          <a:prstGeom prst="roundRect">
            <a:avLst>
              <a:gd name="adj" fmla="val 7916"/>
            </a:avLst>
          </a:prstGeom>
          <a:gradFill rotWithShape="1">
            <a:gsLst>
              <a:gs pos="0">
                <a:srgbClr val="4F8EF7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83636" y="1848594"/>
            <a:ext cx="1267416" cy="1756620"/>
          </a:xfrm>
          <a:prstGeom prst="roundRect">
            <a:avLst>
              <a:gd name="adj" fmla="val 7916"/>
            </a:avLst>
          </a:prstGeom>
          <a:gradFill rotWithShape="1">
            <a:gsLst>
              <a:gs pos="0">
                <a:srgbClr val="4F8EF7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34008" y="1756023"/>
            <a:ext cx="185291" cy="203820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71120" dist="50800" dir="16200000">
              <a:srgbClr val="4f8ef7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2835399" y="1756023"/>
            <a:ext cx="185291" cy="203820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71120" dist="50800" dir="16200000">
              <a:srgbClr val="4f8ef7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4479354" y="1773287"/>
            <a:ext cx="185291" cy="203820"/>
          </a:xfrm>
          <a:prstGeom prst="ellipse">
            <a:avLst/>
          </a:prstGeom>
          <a:gradFill rotWithShape="1">
            <a:gsLst>
              <a:gs pos="0">
                <a:srgbClr val="4F8EF7"/>
              </a:gs>
              <a:gs pos="100000">
                <a:srgbClr val="6FA8FF"/>
              </a:gs>
            </a:gsLst>
            <a:lin ang="2700000" scaled="1"/>
          </a:gradFill>
          <a:ln/>
          <a:effectLst>
            <a:outerShdw sx="100000" sy="100000" kx="0" ky="0" algn="bl" rotWithShape="0" blurRad="100330" dist="50800" dir="16200000">
              <a:srgbClr val="4f8ef7">
                <a:alpha val="8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6123310" y="1756023"/>
            <a:ext cx="185291" cy="203820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71120" dist="50800" dir="16200000">
              <a:srgbClr val="4f8ef7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7724701" y="1756023"/>
            <a:ext cx="185291" cy="203820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71120" dist="50800" dir="16200000">
              <a:srgbClr val="4f8ef7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386060" y="327720"/>
            <a:ext cx="29170" cy="257770"/>
          </a:xfrm>
          <a:prstGeom prst="roundRect">
            <a:avLst>
              <a:gd name="adj" fmla="val 47892"/>
            </a:avLst>
          </a:prstGeom>
          <a:solidFill>
            <a:srgbClr val="4F8E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1551" y="314920"/>
            <a:ext cx="2503667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spc="2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Architecture</a:t>
            </a:r>
            <a:endParaRPr lang="en-US" sz="2030" dirty="0"/>
          </a:p>
        </p:txBody>
      </p:sp>
      <p:sp>
        <p:nvSpPr>
          <p:cNvPr id="19" name="Text 17"/>
          <p:cNvSpPr/>
          <p:nvPr/>
        </p:nvSpPr>
        <p:spPr>
          <a:xfrm>
            <a:off x="500360" y="641598"/>
            <a:ext cx="842273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pipeline — from raw documents to streamed answers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00360" y="641598"/>
            <a:ext cx="9525" cy="159990"/>
          </a:xfrm>
          <a:prstGeom prst="rect">
            <a:avLst/>
          </a:prstGeom>
          <a:solidFill>
            <a:srgbClr val="4F8EF7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3419" y="1839069"/>
            <a:ext cx="1286470" cy="1775668"/>
          </a:xfrm>
          <a:prstGeom prst="roundRect">
            <a:avLst>
              <a:gd name="adj" fmla="val 7799"/>
            </a:avLst>
          </a:prstGeom>
          <a:solidFill>
            <a:srgbClr val="1A2D45"/>
          </a:solidFill>
          <a:ln w="9525">
            <a:solidFill>
              <a:srgbClr val="4F8EF7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12044" y="1992064"/>
            <a:ext cx="429220" cy="472142"/>
          </a:xfrm>
          <a:prstGeom prst="ellipse">
            <a:avLst/>
          </a:prstGeom>
          <a:gradFill rotWithShape="1">
            <a:gsLst>
              <a:gs pos="0">
                <a:srgbClr val="4F8EF7">
                  <a:alpha val="18000"/>
                </a:srgbClr>
              </a:gs>
              <a:gs pos="100000">
                <a:srgbClr val="4F8EF7">
                  <a:alpha val="6000"/>
                </a:srgbClr>
              </a:gs>
            </a:gsLst>
            <a:lin ang="2700000" scaled="1"/>
          </a:gradFill>
          <a:ln w="9525">
            <a:solidFill>
              <a:srgbClr val="4F8EF7">
                <a:alpha val="40000"/>
              </a:srgbClr>
            </a:solidFill>
          </a:ln>
          <a:effectLst>
            <a:outerShdw sx="100000" sy="100000" kx="0" ky="0" algn="bl" rotWithShape="0" blurRad="114300" dist="50800" dir="16200000">
              <a:srgbClr val="4f8ef7">
                <a:alpha val="1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460" dirty="0"/>
          </a:p>
        </p:txBody>
      </p:sp>
      <p:sp>
        <p:nvSpPr>
          <p:cNvPr id="23" name="Text 21"/>
          <p:cNvSpPr/>
          <p:nvPr/>
        </p:nvSpPr>
        <p:spPr>
          <a:xfrm>
            <a:off x="1060845" y="2521595"/>
            <a:ext cx="531468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</a:t>
            </a:r>
            <a:br/>
            <a:pPr algn="ctr"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Ingestion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782586" y="2856161"/>
            <a:ext cx="1088136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PDFs &amp; text files, splits into overlapping chunks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012031" y="3302645"/>
            <a:ext cx="641830" cy="174427"/>
          </a:xfrm>
          <a:prstGeom prst="roundRect">
            <a:avLst>
              <a:gd name="adj" fmla="val 24755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8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590" dirty="0"/>
          </a:p>
        </p:txBody>
      </p:sp>
      <p:sp>
        <p:nvSpPr>
          <p:cNvPr id="26" name="Text 24"/>
          <p:cNvSpPr/>
          <p:nvPr/>
        </p:nvSpPr>
        <p:spPr>
          <a:xfrm>
            <a:off x="1969889" y="2702272"/>
            <a:ext cx="49411" cy="49411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57150" dist="50800" dir="1620000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969889" y="2720132"/>
            <a:ext cx="3149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4F8EF7">
                  <a:alpha val="50000"/>
                </a:srgbClr>
              </a:gs>
              <a:gs pos="50000">
                <a:srgbClr val="4F8EF7">
                  <a:alpha val="90000"/>
                </a:srgbClr>
              </a:gs>
              <a:gs pos="100000">
                <a:srgbClr val="4F8EF7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 rot="5400000">
            <a:off x="2216200" y="2679353"/>
            <a:ext cx="76200" cy="95250"/>
          </a:xfrm>
          <a:prstGeom prst="triangl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284809" y="1839069"/>
            <a:ext cx="1286470" cy="1775668"/>
          </a:xfrm>
          <a:prstGeom prst="roundRect">
            <a:avLst>
              <a:gd name="adj" fmla="val 7799"/>
            </a:avLst>
          </a:prstGeom>
          <a:solidFill>
            <a:srgbClr val="1A2D45"/>
          </a:solidFill>
          <a:ln w="9525">
            <a:solidFill>
              <a:srgbClr val="4F8EF7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713434" y="1992064"/>
            <a:ext cx="429220" cy="472142"/>
          </a:xfrm>
          <a:prstGeom prst="ellipse">
            <a:avLst/>
          </a:prstGeom>
          <a:gradFill rotWithShape="1">
            <a:gsLst>
              <a:gs pos="0">
                <a:srgbClr val="4F8EF7">
                  <a:alpha val="18000"/>
                </a:srgbClr>
              </a:gs>
              <a:gs pos="100000">
                <a:srgbClr val="4F8EF7">
                  <a:alpha val="6000"/>
                </a:srgbClr>
              </a:gs>
            </a:gsLst>
            <a:lin ang="2700000" scaled="1"/>
          </a:gradFill>
          <a:ln w="9525">
            <a:solidFill>
              <a:srgbClr val="4F8EF7">
                <a:alpha val="40000"/>
              </a:srgbClr>
            </a:solidFill>
          </a:ln>
          <a:effectLst>
            <a:outerShdw sx="100000" sy="100000" kx="0" ky="0" algn="bl" rotWithShape="0" blurRad="114300" dist="50800" dir="16200000">
              <a:srgbClr val="4f8ef7">
                <a:alpha val="1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1460" dirty="0"/>
          </a:p>
        </p:txBody>
      </p:sp>
      <p:sp>
        <p:nvSpPr>
          <p:cNvPr id="31" name="Text 29"/>
          <p:cNvSpPr/>
          <p:nvPr/>
        </p:nvSpPr>
        <p:spPr>
          <a:xfrm>
            <a:off x="2704588" y="2521595"/>
            <a:ext cx="446913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Dual</a:t>
            </a:r>
            <a:br/>
            <a:pPr algn="ctr"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Indexing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2383977" y="2856161"/>
            <a:ext cx="1088136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sparse index &amp; dense embedding vector store built in parallel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613422" y="3302645"/>
            <a:ext cx="641830" cy="174427"/>
          </a:xfrm>
          <a:prstGeom prst="roundRect">
            <a:avLst>
              <a:gd name="adj" fmla="val 24755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8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index_store</a:t>
            </a:r>
            <a:endParaRPr lang="en-US" sz="590" dirty="0"/>
          </a:p>
        </p:txBody>
      </p:sp>
      <p:sp>
        <p:nvSpPr>
          <p:cNvPr id="34" name="Text 32"/>
          <p:cNvSpPr/>
          <p:nvPr/>
        </p:nvSpPr>
        <p:spPr>
          <a:xfrm>
            <a:off x="3571280" y="2702272"/>
            <a:ext cx="49411" cy="49411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57150" dist="50800" dir="1620000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71280" y="2720132"/>
            <a:ext cx="3149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4F8EF7">
                  <a:alpha val="50000"/>
                </a:srgbClr>
              </a:gs>
              <a:gs pos="50000">
                <a:srgbClr val="4F8EF7">
                  <a:alpha val="90000"/>
                </a:srgbClr>
              </a:gs>
              <a:gs pos="100000">
                <a:srgbClr val="4F8EF7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 rot="5400000">
            <a:off x="3817590" y="2679353"/>
            <a:ext cx="76200" cy="95250"/>
          </a:xfrm>
          <a:prstGeom prst="triangl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886200" y="1856333"/>
            <a:ext cx="1371600" cy="1670149"/>
          </a:xfrm>
          <a:prstGeom prst="roundRect">
            <a:avLst>
              <a:gd name="adj" fmla="val 7315"/>
            </a:avLst>
          </a:prstGeom>
          <a:gradFill rotWithShape="1">
            <a:gsLst>
              <a:gs pos="0">
                <a:srgbClr val="1C3560"/>
              </a:gs>
              <a:gs pos="100000">
                <a:srgbClr val="1A2D45"/>
              </a:gs>
            </a:gsLst>
            <a:lin ang="4200000" scaled="1"/>
          </a:gradFill>
          <a:ln w="9525">
            <a:solidFill>
              <a:srgbClr val="4F8EF7">
                <a:alpha val="6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069928" y="1637258"/>
            <a:ext cx="1024226" cy="149870"/>
          </a:xfrm>
          <a:prstGeom prst="roundRect">
            <a:avLst>
              <a:gd name="adj" fmla="val 95757"/>
            </a:avLst>
          </a:prstGeom>
          <a:gradFill rotWithShape="1">
            <a:gsLst>
              <a:gs pos="0">
                <a:srgbClr val="4F8EF7"/>
              </a:gs>
              <a:gs pos="100000">
                <a:srgbClr val="6FA8FF"/>
              </a:gs>
            </a:gsLst>
            <a:lin ang="0" scaled="1"/>
          </a:gradFill>
          <a:ln/>
          <a:effectLst>
            <a:outerShdw sx="100000" sy="100000" kx="0" ky="0" algn="bl" rotWithShape="0" blurRad="86360" dist="13970" dir="5400000">
              <a:srgbClr val="4f8ef7">
                <a:alpha val="50000"/>
              </a:srgbClr>
            </a:outerShdw>
          </a:effectLst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45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CORE INNOVATION</a:t>
            </a:r>
            <a:endParaRPr lang="en-US" sz="560" dirty="0"/>
          </a:p>
        </p:txBody>
      </p:sp>
      <p:sp>
        <p:nvSpPr>
          <p:cNvPr id="39" name="Text 37"/>
          <p:cNvSpPr/>
          <p:nvPr/>
        </p:nvSpPr>
        <p:spPr>
          <a:xfrm>
            <a:off x="4357390" y="2009329"/>
            <a:ext cx="429220" cy="472142"/>
          </a:xfrm>
          <a:prstGeom prst="ellipse">
            <a:avLst/>
          </a:prstGeom>
          <a:gradFill rotWithShape="1">
            <a:gsLst>
              <a:gs pos="0">
                <a:srgbClr val="4F8EF7">
                  <a:alpha val="28000"/>
                </a:srgbClr>
              </a:gs>
              <a:gs pos="100000">
                <a:srgbClr val="4F8EF7">
                  <a:alpha val="10000"/>
                </a:srgbClr>
              </a:gs>
            </a:gsLst>
            <a:lin ang="2700000" scaled="1"/>
          </a:gradFill>
          <a:ln w="9525">
            <a:solidFill>
              <a:srgbClr val="4F8EF7">
                <a:alpha val="70000"/>
              </a:srgbClr>
            </a:solidFill>
          </a:ln>
          <a:effectLst>
            <a:outerShdw sx="100000" sy="100000" kx="0" ky="0" algn="bl" rotWithShape="0" blurRad="157480" dist="50800" dir="16200000">
              <a:srgbClr val="4f8ef7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460" dirty="0"/>
          </a:p>
        </p:txBody>
      </p:sp>
      <p:sp>
        <p:nvSpPr>
          <p:cNvPr id="40" name="Text 38"/>
          <p:cNvSpPr/>
          <p:nvPr/>
        </p:nvSpPr>
        <p:spPr>
          <a:xfrm>
            <a:off x="4325622" y="2538859"/>
            <a:ext cx="492606" cy="311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A8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</a:t>
            </a:r>
            <a:br/>
            <a:pPr algn="ctr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A8C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Retrieval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84516" y="2893070"/>
            <a:ext cx="1174968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cosine similarity, score fusion via RRF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4077146" y="3214390"/>
            <a:ext cx="1009501" cy="174427"/>
          </a:xfrm>
          <a:prstGeom prst="roundRect">
            <a:avLst>
              <a:gd name="adj" fmla="val 24755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8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hybrid_retriever.py</a:t>
            </a:r>
            <a:endParaRPr lang="en-US" sz="590" dirty="0"/>
          </a:p>
        </p:txBody>
      </p:sp>
      <p:sp>
        <p:nvSpPr>
          <p:cNvPr id="43" name="Text 41"/>
          <p:cNvSpPr/>
          <p:nvPr/>
        </p:nvSpPr>
        <p:spPr>
          <a:xfrm>
            <a:off x="5257800" y="2702272"/>
            <a:ext cx="49411" cy="49411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57150" dist="50800" dir="1620000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57800" y="2720132"/>
            <a:ext cx="3149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4F8EF7">
                  <a:alpha val="50000"/>
                </a:srgbClr>
              </a:gs>
              <a:gs pos="50000">
                <a:srgbClr val="4F8EF7">
                  <a:alpha val="90000"/>
                </a:srgbClr>
              </a:gs>
              <a:gs pos="100000">
                <a:srgbClr val="4F8EF7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 rot="5400000">
            <a:off x="5504111" y="2679353"/>
            <a:ext cx="76200" cy="95250"/>
          </a:xfrm>
          <a:prstGeom prst="triangl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572720" y="1839069"/>
            <a:ext cx="1286470" cy="1775668"/>
          </a:xfrm>
          <a:prstGeom prst="roundRect">
            <a:avLst>
              <a:gd name="adj" fmla="val 7799"/>
            </a:avLst>
          </a:prstGeom>
          <a:solidFill>
            <a:srgbClr val="1A2D45"/>
          </a:solidFill>
          <a:ln w="9525">
            <a:solidFill>
              <a:srgbClr val="4F8EF7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001345" y="1992064"/>
            <a:ext cx="429220" cy="472142"/>
          </a:xfrm>
          <a:prstGeom prst="ellipse">
            <a:avLst/>
          </a:prstGeom>
          <a:gradFill rotWithShape="1">
            <a:gsLst>
              <a:gs pos="0">
                <a:srgbClr val="4F8EF7">
                  <a:alpha val="18000"/>
                </a:srgbClr>
              </a:gs>
              <a:gs pos="100000">
                <a:srgbClr val="4F8EF7">
                  <a:alpha val="6000"/>
                </a:srgbClr>
              </a:gs>
            </a:gsLst>
            <a:lin ang="2700000" scaled="1"/>
          </a:gradFill>
          <a:ln w="9525">
            <a:solidFill>
              <a:srgbClr val="4F8EF7">
                <a:alpha val="40000"/>
              </a:srgbClr>
            </a:solidFill>
          </a:ln>
          <a:effectLst>
            <a:outerShdw sx="100000" sy="100000" kx="0" ky="0" algn="bl" rotWithShape="0" blurRad="114300" dist="50800" dir="16200000">
              <a:srgbClr val="4f8ef7">
                <a:alpha val="1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460" dirty="0"/>
          </a:p>
        </p:txBody>
      </p:sp>
      <p:sp>
        <p:nvSpPr>
          <p:cNvPr id="48" name="Text 46"/>
          <p:cNvSpPr/>
          <p:nvPr/>
        </p:nvSpPr>
        <p:spPr>
          <a:xfrm>
            <a:off x="5826274" y="2521595"/>
            <a:ext cx="779213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Cross-Encoder</a:t>
            </a:r>
            <a:br/>
            <a:pPr algn="ctr"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Reranker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5671887" y="2856161"/>
            <a:ext cx="1088136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Reranks top-k candidates for maximum passage relevance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5968901" y="3302645"/>
            <a:ext cx="503840" cy="174427"/>
          </a:xfrm>
          <a:prstGeom prst="roundRect">
            <a:avLst>
              <a:gd name="adj" fmla="val 24755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8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reranker</a:t>
            </a:r>
            <a:endParaRPr lang="en-US" sz="590" dirty="0"/>
          </a:p>
        </p:txBody>
      </p:sp>
      <p:sp>
        <p:nvSpPr>
          <p:cNvPr id="51" name="Text 49"/>
          <p:cNvSpPr/>
          <p:nvPr/>
        </p:nvSpPr>
        <p:spPr>
          <a:xfrm>
            <a:off x="6859191" y="2702272"/>
            <a:ext cx="49411" cy="49411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57150" dist="50800" dir="1620000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859191" y="2720132"/>
            <a:ext cx="31492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4F8EF7">
                  <a:alpha val="50000"/>
                </a:srgbClr>
              </a:gs>
              <a:gs pos="50000">
                <a:srgbClr val="4F8EF7">
                  <a:alpha val="90000"/>
                </a:srgbClr>
              </a:gs>
              <a:gs pos="100000">
                <a:srgbClr val="4F8EF7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 rot="5400000">
            <a:off x="7105501" y="2679353"/>
            <a:ext cx="76200" cy="95250"/>
          </a:xfrm>
          <a:prstGeom prst="triangl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174111" y="1839069"/>
            <a:ext cx="1286470" cy="1775668"/>
          </a:xfrm>
          <a:prstGeom prst="roundRect">
            <a:avLst>
              <a:gd name="adj" fmla="val 7799"/>
            </a:avLst>
          </a:prstGeom>
          <a:solidFill>
            <a:srgbClr val="1A2D45"/>
          </a:solidFill>
          <a:ln w="9525">
            <a:solidFill>
              <a:srgbClr val="4F8EF7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602736" y="1992064"/>
            <a:ext cx="429220" cy="472142"/>
          </a:xfrm>
          <a:prstGeom prst="ellipse">
            <a:avLst/>
          </a:prstGeom>
          <a:gradFill rotWithShape="1">
            <a:gsLst>
              <a:gs pos="0">
                <a:srgbClr val="4F8EF7">
                  <a:alpha val="18000"/>
                </a:srgbClr>
              </a:gs>
              <a:gs pos="100000">
                <a:srgbClr val="4F8EF7">
                  <a:alpha val="6000"/>
                </a:srgbClr>
              </a:gs>
            </a:gsLst>
            <a:lin ang="2700000" scaled="1"/>
          </a:gradFill>
          <a:ln w="9525">
            <a:solidFill>
              <a:srgbClr val="4F8EF7">
                <a:alpha val="40000"/>
              </a:srgbClr>
            </a:solidFill>
          </a:ln>
          <a:effectLst>
            <a:outerShdw sx="100000" sy="100000" kx="0" ky="0" algn="bl" rotWithShape="0" blurRad="114300" dist="50800" dir="16200000">
              <a:srgbClr val="4f8ef7">
                <a:alpha val="1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460" dirty="0"/>
          </a:p>
        </p:txBody>
      </p:sp>
      <p:sp>
        <p:nvSpPr>
          <p:cNvPr id="56" name="Text 54"/>
          <p:cNvSpPr/>
          <p:nvPr/>
        </p:nvSpPr>
        <p:spPr>
          <a:xfrm>
            <a:off x="7530435" y="2521595"/>
            <a:ext cx="573822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</a:t>
            </a:r>
            <a:br/>
            <a:pPr algn="ctr" indent="0" marL="0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Generation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7273278" y="2856161"/>
            <a:ext cx="1088136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or Ollama streams a grounded answer to the UI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7615386" y="3302645"/>
            <a:ext cx="411846" cy="174427"/>
          </a:xfrm>
          <a:prstGeom prst="roundRect">
            <a:avLst>
              <a:gd name="adj" fmla="val 24755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8000"/>
              </a:srgbClr>
            </a:solidFill>
          </a:ln>
        </p:spPr>
        <p:txBody>
          <a:bodyPr wrap="none" lIns="57150" tIns="21590" rIns="57150" bIns="2159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590" dirty="0"/>
          </a:p>
        </p:txBody>
      </p:sp>
      <p:sp>
        <p:nvSpPr>
          <p:cNvPr id="59" name="Text 57"/>
          <p:cNvSpPr/>
          <p:nvPr/>
        </p:nvSpPr>
        <p:spPr>
          <a:xfrm>
            <a:off x="1372493" y="4595217"/>
            <a:ext cx="6399014" cy="290513"/>
          </a:xfrm>
          <a:prstGeom prst="roundRect">
            <a:avLst>
              <a:gd name="adj" fmla="val 24481"/>
            </a:avLst>
          </a:prstGeom>
          <a:solidFill>
            <a:srgbClr val="0A1423">
              <a:alpha val="70000"/>
            </a:srgbClr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11073" y="4674105"/>
            <a:ext cx="132588" cy="132588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1758107" y="4675733"/>
            <a:ext cx="63798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</a:t>
            </a:r>
            <a:endParaRPr lang="en-US" sz="680" dirty="0"/>
          </a:p>
        </p:txBody>
      </p:sp>
      <p:sp>
        <p:nvSpPr>
          <p:cNvPr id="62" name="Text 59"/>
          <p:cNvSpPr/>
          <p:nvPr/>
        </p:nvSpPr>
        <p:spPr>
          <a:xfrm>
            <a:off x="2438400" y="4675733"/>
            <a:ext cx="4565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Docs</a:t>
            </a:r>
            <a:endParaRPr lang="en-US" sz="680" dirty="0"/>
          </a:p>
        </p:txBody>
      </p:sp>
      <p:sp>
        <p:nvSpPr>
          <p:cNvPr id="63" name="Text 60"/>
          <p:cNvSpPr/>
          <p:nvPr/>
        </p:nvSpPr>
        <p:spPr>
          <a:xfrm>
            <a:off x="2953792" y="4675733"/>
            <a:ext cx="9478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80" dirty="0"/>
          </a:p>
        </p:txBody>
      </p:sp>
      <p:sp>
        <p:nvSpPr>
          <p:cNvPr id="64" name="Text 61"/>
          <p:cNvSpPr/>
          <p:nvPr/>
        </p:nvSpPr>
        <p:spPr>
          <a:xfrm>
            <a:off x="3140273" y="4675733"/>
            <a:ext cx="34248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</a:t>
            </a:r>
            <a:endParaRPr lang="en-US" sz="680" dirty="0"/>
          </a:p>
        </p:txBody>
      </p:sp>
      <p:sp>
        <p:nvSpPr>
          <p:cNvPr id="65" name="Text 62"/>
          <p:cNvSpPr/>
          <p:nvPr/>
        </p:nvSpPr>
        <p:spPr>
          <a:xfrm>
            <a:off x="3551932" y="4675733"/>
            <a:ext cx="9478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80" dirty="0"/>
          </a:p>
        </p:txBody>
      </p:sp>
      <p:sp>
        <p:nvSpPr>
          <p:cNvPr id="66" name="Text 63"/>
          <p:cNvSpPr/>
          <p:nvPr/>
        </p:nvSpPr>
        <p:spPr>
          <a:xfrm>
            <a:off x="3738414" y="4675733"/>
            <a:ext cx="97015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 + Embeddings</a:t>
            </a:r>
            <a:endParaRPr lang="en-US" sz="680" dirty="0"/>
          </a:p>
        </p:txBody>
      </p:sp>
      <p:sp>
        <p:nvSpPr>
          <p:cNvPr id="67" name="Text 64"/>
          <p:cNvSpPr/>
          <p:nvPr/>
        </p:nvSpPr>
        <p:spPr>
          <a:xfrm>
            <a:off x="4720679" y="4675733"/>
            <a:ext cx="9478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80" dirty="0"/>
          </a:p>
        </p:txBody>
      </p:sp>
      <p:sp>
        <p:nvSpPr>
          <p:cNvPr id="68" name="Text 65"/>
          <p:cNvSpPr/>
          <p:nvPr/>
        </p:nvSpPr>
        <p:spPr>
          <a:xfrm>
            <a:off x="4907161" y="4675733"/>
            <a:ext cx="57069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RRF Fusion</a:t>
            </a:r>
            <a:endParaRPr lang="en-US" sz="680" dirty="0"/>
          </a:p>
        </p:txBody>
      </p:sp>
      <p:sp>
        <p:nvSpPr>
          <p:cNvPr id="69" name="Text 66"/>
          <p:cNvSpPr/>
          <p:nvPr/>
        </p:nvSpPr>
        <p:spPr>
          <a:xfrm>
            <a:off x="5526286" y="4675733"/>
            <a:ext cx="9478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80" dirty="0"/>
          </a:p>
        </p:txBody>
      </p:sp>
      <p:sp>
        <p:nvSpPr>
          <p:cNvPr id="70" name="Text 67"/>
          <p:cNvSpPr/>
          <p:nvPr/>
        </p:nvSpPr>
        <p:spPr>
          <a:xfrm>
            <a:off x="5712768" y="4675733"/>
            <a:ext cx="79907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Reranked Top-k</a:t>
            </a:r>
            <a:endParaRPr lang="en-US" sz="680" dirty="0"/>
          </a:p>
        </p:txBody>
      </p:sp>
      <p:sp>
        <p:nvSpPr>
          <p:cNvPr id="71" name="Text 68"/>
          <p:cNvSpPr/>
          <p:nvPr/>
        </p:nvSpPr>
        <p:spPr>
          <a:xfrm>
            <a:off x="6539508" y="4675733"/>
            <a:ext cx="9478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80" dirty="0"/>
          </a:p>
        </p:txBody>
      </p:sp>
      <p:sp>
        <p:nvSpPr>
          <p:cNvPr id="72" name="Text 69"/>
          <p:cNvSpPr/>
          <p:nvPr/>
        </p:nvSpPr>
        <p:spPr>
          <a:xfrm>
            <a:off x="6725989" y="4675733"/>
            <a:ext cx="85604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Streamed Answer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6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80000" t="50000" r="2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D9A4">
                  <a:alpha val="5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97EF7">
                  <a:alpha val="5000"/>
                </a:srgbClr>
              </a:gs>
              <a:gs pos="35000">
                <a:srgbClr val="000000">
                  <a:alpha val="0"/>
                </a:srgbClr>
              </a:gs>
            </a:gsLst>
            <a:path path="circle">
              <a:fillToRect l="40000" t="20000" r="60000" b="8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4231928"/>
            <a:ext cx="29170" cy="673447"/>
          </a:xfrm>
          <a:custGeom>
            <a:avLst/>
            <a:gdLst/>
            <a:ahLst/>
            <a:cxnLst/>
            <a:rect l="l" t="t" r="r" b="b"/>
            <a:pathLst>
              <a:path w="29170" h="673447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643845"/>
                </a:lnTo>
                <a:lnTo>
                  <a:pt x="25524" y="639977"/>
                </a:lnTo>
                <a:lnTo>
                  <a:pt x="21878" y="635658"/>
                </a:lnTo>
                <a:lnTo>
                  <a:pt x="18231" y="630788"/>
                </a:lnTo>
                <a:lnTo>
                  <a:pt x="14585" y="625213"/>
                </a:lnTo>
                <a:lnTo>
                  <a:pt x="10939" y="618673"/>
                </a:lnTo>
                <a:lnTo>
                  <a:pt x="7293" y="610669"/>
                </a:lnTo>
                <a:lnTo>
                  <a:pt x="3646" y="599920"/>
                </a:lnTo>
                <a:lnTo>
                  <a:pt x="0" y="573117"/>
                </a:lnTo>
                <a:close/>
              </a:path>
            </a:pathLst>
          </a:custGeom>
          <a:gradFill rotWithShape="1">
            <a:gsLst>
              <a:gs pos="0">
                <a:srgbClr val="F7A44F"/>
              </a:gs>
              <a:gs pos="50000">
                <a:srgbClr val="C97EF7"/>
              </a:gs>
              <a:gs pos="100000">
                <a:srgbClr val="4FD9A4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85750"/>
            <a:ext cx="37207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4F8EF7"/>
              </a:gs>
              <a:gs pos="100000">
                <a:srgbClr val="4FD9A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358080"/>
            <a:ext cx="8927973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1"/>
              </a:lnSpc>
              <a:buNone/>
            </a:pPr>
            <a:r>
              <a:rPr lang="en-US" sz="1910" spc="-19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Retrieval </a:t>
            </a:r>
            <a:pPr algn="l" indent="0" marL="0">
              <a:lnSpc>
                <a:spcPts val="2101"/>
              </a:lnSpc>
              <a:buNone/>
            </a:pPr>
            <a:r>
              <a:rPr lang="en-US" sz="1910" spc="-19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</a:t>
            </a:r>
            <a:endParaRPr lang="en-US" sz="1910" dirty="0"/>
          </a:p>
        </p:txBody>
      </p:sp>
      <p:sp>
        <p:nvSpPr>
          <p:cNvPr id="8" name="Text 6"/>
          <p:cNvSpPr/>
          <p:nvPr/>
        </p:nvSpPr>
        <p:spPr>
          <a:xfrm>
            <a:off x="400050" y="654100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230"/>
              </a:spcBef>
              <a:buNone/>
            </a:pPr>
            <a:r>
              <a:rPr lang="en-US" sz="840" spc="25" kern="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sparse and dense signals for superior document retrieval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400050" y="971550"/>
            <a:ext cx="3951089" cy="3136553"/>
          </a:xfrm>
          <a:prstGeom prst="roundRect">
            <a:avLst>
              <a:gd name="adj" fmla="val 3199"/>
            </a:avLst>
          </a:prstGeom>
          <a:gradFill rotWithShape="1">
            <a:gsLst>
              <a:gs pos="0">
                <a:srgbClr val="1E2F1A"/>
              </a:gs>
              <a:gs pos="100000">
                <a:srgbClr val="1A2D45"/>
              </a:gs>
            </a:gsLst>
            <a:lin ang="4200000" scaled="1"/>
          </a:gradFill>
          <a:ln w="9525">
            <a:solidFill>
              <a:srgbClr val="F7A44F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31727" y="971550"/>
            <a:ext cx="519413" cy="500341"/>
          </a:xfrm>
          <a:custGeom>
            <a:avLst/>
            <a:gdLst/>
            <a:ahLst/>
            <a:cxnLst/>
            <a:rect l="l" t="t" r="r" b="b"/>
            <a:pathLst>
              <a:path w="519413" h="500341">
                <a:moveTo>
                  <a:pt x="519413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19083" y="0"/>
                </a:lnTo>
                <a:lnTo>
                  <a:pt x="438656" y="1928"/>
                </a:lnTo>
                <a:lnTo>
                  <a:pt x="457477" y="7637"/>
                </a:lnTo>
                <a:lnTo>
                  <a:pt x="474823" y="16909"/>
                </a:lnTo>
                <a:lnTo>
                  <a:pt x="490027" y="29386"/>
                </a:lnTo>
                <a:lnTo>
                  <a:pt x="502504" y="44589"/>
                </a:lnTo>
                <a:lnTo>
                  <a:pt x="511775" y="61935"/>
                </a:lnTo>
                <a:lnTo>
                  <a:pt x="517485" y="80756"/>
                </a:lnTo>
                <a:lnTo>
                  <a:pt x="519413" y="100330"/>
                </a:lnTo>
                <a:close/>
              </a:path>
            </a:pathLst>
          </a:custGeom>
          <a:gradFill rotWithShape="1">
            <a:gsLst>
              <a:gs pos="0">
                <a:srgbClr val="F7A44F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3878" y="1138535"/>
            <a:ext cx="468541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spc="12" kern="0" dirty="0">
                <a:solidFill>
                  <a:srgbClr val="F7A4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BM25</a:t>
            </a:r>
            <a:endParaRPr lang="en-US" sz="124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582" y="1190336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866" y="1489025"/>
            <a:ext cx="2849166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7A44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4866" y="1654076"/>
            <a:ext cx="49411" cy="49411"/>
          </a:xfrm>
          <a:prstGeom prst="ellipse">
            <a:avLst/>
          </a:prstGeom>
          <a:solidFill>
            <a:srgbClr val="F7A44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15268" y="1610916"/>
            <a:ext cx="1362730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keyword matching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866" y="1884462"/>
            <a:ext cx="49411" cy="49411"/>
          </a:xfrm>
          <a:prstGeom prst="ellipse">
            <a:avLst/>
          </a:prstGeom>
          <a:solidFill>
            <a:srgbClr val="F7A44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15268" y="1841302"/>
            <a:ext cx="1131734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style scoring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866" y="2114848"/>
            <a:ext cx="49411" cy="49411"/>
          </a:xfrm>
          <a:prstGeom prst="ellipse">
            <a:avLst/>
          </a:prstGeom>
          <a:solidFill>
            <a:srgbClr val="F7A44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15268" y="2071688"/>
            <a:ext cx="1872689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rare terms &amp; OOV words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866" y="2345234"/>
            <a:ext cx="49411" cy="49411"/>
          </a:xfrm>
          <a:prstGeom prst="ellipse">
            <a:avLst/>
          </a:prstGeom>
          <a:solidFill>
            <a:srgbClr val="F7A44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15268" y="2302073"/>
            <a:ext cx="1663467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 via inverted index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866" y="2575620"/>
            <a:ext cx="49411" cy="49411"/>
          </a:xfrm>
          <a:prstGeom prst="ellipse">
            <a:avLst/>
          </a:prstGeom>
          <a:solidFill>
            <a:srgbClr val="F7A44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15268" y="2541984"/>
            <a:ext cx="75339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715268" y="2707035"/>
            <a:ext cx="1557486" cy="169277"/>
          </a:xfrm>
          <a:prstGeom prst="roundRect">
            <a:avLst>
              <a:gd name="adj" fmla="val 21007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ingestion/hybrid_retriever.py</a:t>
            </a:r>
            <a:endParaRPr lang="en-US" sz="6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alphaModFix amt="5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417" y="3839328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46450" y="3840956"/>
            <a:ext cx="51372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F7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BM25Okapi</a:t>
            </a:r>
            <a:endParaRPr lang="en-US" sz="680" dirty="0"/>
          </a:p>
        </p:txBody>
      </p:sp>
      <p:sp>
        <p:nvSpPr>
          <p:cNvPr id="27" name="Text 23"/>
          <p:cNvSpPr/>
          <p:nvPr/>
        </p:nvSpPr>
        <p:spPr>
          <a:xfrm>
            <a:off x="4565005" y="1903661"/>
            <a:ext cx="13841" cy="429220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F7A44F">
                  <a:alpha val="40000"/>
                </a:srgbClr>
              </a:gs>
              <a:gs pos="100000">
                <a:srgbClr val="4FD9A4">
                  <a:alpha val="4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422130" y="2390031"/>
            <a:ext cx="299591" cy="329550"/>
          </a:xfrm>
          <a:prstGeom prst="ellipse">
            <a:avLst/>
          </a:prstGeom>
          <a:gradFill rotWithShape="1">
            <a:gsLst>
              <a:gs pos="0">
                <a:srgbClr val="F7A44F"/>
              </a:gs>
              <a:gs pos="100000">
                <a:srgbClr val="4FD9A4"/>
              </a:gs>
            </a:gsLst>
            <a:lin ang="2700000" scaled="1"/>
          </a:gradFill>
          <a:ln/>
          <a:effectLst>
            <a:outerShdw sx="100000" sy="100000" kx="0" ky="0" algn="bl" rotWithShape="0" blurRad="114300" dist="13970" dir="5400000">
              <a:srgbClr val="4f8ef7">
                <a:alpha val="30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730" dirty="0"/>
          </a:p>
        </p:txBody>
      </p:sp>
      <p:sp>
        <p:nvSpPr>
          <p:cNvPr id="29" name="Text 25"/>
          <p:cNvSpPr/>
          <p:nvPr/>
        </p:nvSpPr>
        <p:spPr>
          <a:xfrm>
            <a:off x="4565005" y="2746772"/>
            <a:ext cx="13841" cy="429220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F7A44F">
                  <a:alpha val="40000"/>
                </a:srgbClr>
              </a:gs>
              <a:gs pos="100000">
                <a:srgbClr val="4FD9A4">
                  <a:alpha val="4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792712" y="971550"/>
            <a:ext cx="3951238" cy="3136553"/>
          </a:xfrm>
          <a:prstGeom prst="roundRect">
            <a:avLst>
              <a:gd name="adj" fmla="val 3199"/>
            </a:avLst>
          </a:prstGeom>
          <a:gradFill rotWithShape="1">
            <a:gsLst>
              <a:gs pos="0">
                <a:srgbClr val="0E2526"/>
              </a:gs>
              <a:gs pos="100000">
                <a:srgbClr val="1A2D45"/>
              </a:gs>
            </a:gsLst>
            <a:lin ang="4200000" scaled="1"/>
          </a:gradFill>
          <a:ln w="9525">
            <a:solidFill>
              <a:srgbClr val="4FD9A4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792712" y="971550"/>
            <a:ext cx="500341" cy="500341"/>
          </a:xfrm>
          <a:custGeom>
            <a:avLst/>
            <a:gdLst/>
            <a:ahLst/>
            <a:cxnLst/>
            <a:rect l="l" t="t" r="r" b="b"/>
            <a:pathLst>
              <a:path w="500341" h="500341">
                <a:moveTo>
                  <a:pt x="500341" y="142855"/>
                </a:moveTo>
                <a:lnTo>
                  <a:pt x="498619" y="177895"/>
                </a:lnTo>
                <a:lnTo>
                  <a:pt x="493472" y="212597"/>
                </a:lnTo>
                <a:lnTo>
                  <a:pt x="484947" y="246628"/>
                </a:lnTo>
                <a:lnTo>
                  <a:pt x="473129" y="279659"/>
                </a:lnTo>
                <a:lnTo>
                  <a:pt x="458129" y="311373"/>
                </a:lnTo>
                <a:lnTo>
                  <a:pt x="440094" y="341464"/>
                </a:lnTo>
                <a:lnTo>
                  <a:pt x="419195" y="369642"/>
                </a:lnTo>
                <a:lnTo>
                  <a:pt x="395636" y="395636"/>
                </a:lnTo>
                <a:lnTo>
                  <a:pt x="369642" y="419195"/>
                </a:lnTo>
                <a:lnTo>
                  <a:pt x="341464" y="440094"/>
                </a:lnTo>
                <a:lnTo>
                  <a:pt x="311373" y="458129"/>
                </a:lnTo>
                <a:lnTo>
                  <a:pt x="279659" y="473129"/>
                </a:lnTo>
                <a:lnTo>
                  <a:pt x="246628" y="484947"/>
                </a:lnTo>
                <a:lnTo>
                  <a:pt x="212597" y="493472"/>
                </a:lnTo>
                <a:lnTo>
                  <a:pt x="177895" y="498619"/>
                </a:lnTo>
                <a:lnTo>
                  <a:pt x="142855" y="500341"/>
                </a:lnTo>
                <a:lnTo>
                  <a:pt x="107816" y="498619"/>
                </a:lnTo>
                <a:lnTo>
                  <a:pt x="73114" y="493472"/>
                </a:lnTo>
                <a:lnTo>
                  <a:pt x="39083" y="484947"/>
                </a:lnTo>
                <a:lnTo>
                  <a:pt x="6052" y="473129"/>
                </a:lnTo>
                <a:lnTo>
                  <a:pt x="0" y="468445"/>
                </a:lnTo>
                <a:lnTo>
                  <a:pt x="468445" y="0"/>
                </a:lnTo>
                <a:lnTo>
                  <a:pt x="473129" y="6052"/>
                </a:lnTo>
                <a:lnTo>
                  <a:pt x="484947" y="39083"/>
                </a:lnTo>
                <a:lnTo>
                  <a:pt x="493472" y="73114"/>
                </a:lnTo>
                <a:lnTo>
                  <a:pt x="498619" y="107816"/>
                </a:lnTo>
                <a:lnTo>
                  <a:pt x="500341" y="142855"/>
                </a:lnTo>
                <a:lnTo>
                  <a:pt x="0" y="100330"/>
                </a:lnTo>
                <a:lnTo>
                  <a:pt x="1928" y="80756"/>
                </a:lnTo>
                <a:lnTo>
                  <a:pt x="7637" y="61935"/>
                </a:lnTo>
                <a:lnTo>
                  <a:pt x="16909" y="44589"/>
                </a:lnTo>
                <a:lnTo>
                  <a:pt x="29386" y="29386"/>
                </a:lnTo>
                <a:lnTo>
                  <a:pt x="44589" y="16909"/>
                </a:lnTo>
                <a:lnTo>
                  <a:pt x="61935" y="7637"/>
                </a:lnTo>
                <a:lnTo>
                  <a:pt x="80756" y="1928"/>
                </a:lnTo>
                <a:lnTo>
                  <a:pt x="100330" y="0"/>
                </a:lnTo>
                <a:close/>
              </a:path>
            </a:pathLst>
          </a:custGeom>
          <a:gradFill rotWithShape="1">
            <a:gsLst>
              <a:gs pos="0">
                <a:srgbClr val="4FD9A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176540" y="1138535"/>
            <a:ext cx="188873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spc="12" kern="0" dirty="0">
                <a:solidFill>
                  <a:srgbClr val="4FD9A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Semantic Embeddings</a:t>
            </a:r>
            <a:endParaRPr lang="en-US" sz="124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0244" y="1190336"/>
            <a:ext cx="132588" cy="1325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987528" y="1489025"/>
            <a:ext cx="2849166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4FD9A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987528" y="1654076"/>
            <a:ext cx="49411" cy="49411"/>
          </a:xfrm>
          <a:prstGeom prst="ellipse">
            <a:avLst/>
          </a:prstGeom>
          <a:solidFill>
            <a:srgbClr val="4FD9A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107930" y="1610916"/>
            <a:ext cx="2075527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in embedding space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4987528" y="1884462"/>
            <a:ext cx="49411" cy="49411"/>
          </a:xfrm>
          <a:prstGeom prst="ellipse">
            <a:avLst/>
          </a:prstGeom>
          <a:solidFill>
            <a:srgbClr val="4FD9A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107930" y="1841302"/>
            <a:ext cx="1768406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paraphrase and intent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4987528" y="2114848"/>
            <a:ext cx="49411" cy="49411"/>
          </a:xfrm>
          <a:prstGeom prst="ellipse">
            <a:avLst/>
          </a:prstGeom>
          <a:solidFill>
            <a:srgbClr val="4FD9A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5107930" y="2071688"/>
            <a:ext cx="1593399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model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4987528" y="2345234"/>
            <a:ext cx="49411" cy="49411"/>
          </a:xfrm>
          <a:prstGeom prst="ellipse">
            <a:avLst/>
          </a:prstGeom>
          <a:solidFill>
            <a:srgbClr val="4FD9A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5107930" y="2302073"/>
            <a:ext cx="1013207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ANN search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4987528" y="2575620"/>
            <a:ext cx="49411" cy="49411"/>
          </a:xfrm>
          <a:prstGeom prst="ellipse">
            <a:avLst/>
          </a:prstGeom>
          <a:solidFill>
            <a:srgbClr val="4FD9A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5107930" y="2541984"/>
            <a:ext cx="5391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</a:t>
            </a:r>
            <a:endParaRPr lang="en-US" sz="790" dirty="0"/>
          </a:p>
        </p:txBody>
      </p:sp>
      <p:sp>
        <p:nvSpPr>
          <p:cNvPr id="45" name="Text 40"/>
          <p:cNvSpPr/>
          <p:nvPr/>
        </p:nvSpPr>
        <p:spPr>
          <a:xfrm>
            <a:off x="5107930" y="2707035"/>
            <a:ext cx="1160413" cy="169277"/>
          </a:xfrm>
          <a:prstGeom prst="roundRect">
            <a:avLst>
              <a:gd name="adj" fmla="val 21007"/>
            </a:avLst>
          </a:prstGeom>
          <a:solidFill>
            <a:srgbClr val="4FD9A4">
              <a:alpha val="10000"/>
            </a:srgbClr>
          </a:solidFill>
          <a:ln w="9525">
            <a:solidFill>
              <a:srgbClr val="4FD9A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sentence-transformers</a:t>
            </a:r>
            <a:endParaRPr lang="en-US" sz="650" dirty="0"/>
          </a:p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7">
            <a:alphaModFix amt="55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6554" y="3839328"/>
            <a:ext cx="132588" cy="13258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983587" y="3840956"/>
            <a:ext cx="68496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D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vector_store</a:t>
            </a:r>
            <a:endParaRPr lang="en-US" sz="680" dirty="0"/>
          </a:p>
        </p:txBody>
      </p:sp>
      <p:sp>
        <p:nvSpPr>
          <p:cNvPr id="48" name="Text 42"/>
          <p:cNvSpPr/>
          <p:nvPr/>
        </p:nvSpPr>
        <p:spPr>
          <a:xfrm>
            <a:off x="400050" y="4222403"/>
            <a:ext cx="8343900" cy="692497"/>
          </a:xfrm>
          <a:prstGeom prst="roundRect">
            <a:avLst>
              <a:gd name="adj" fmla="val 14488"/>
            </a:avLst>
          </a:prstGeom>
          <a:gradFill rotWithShape="1">
            <a:gsLst>
              <a:gs pos="0">
                <a:srgbClr val="1C1A32"/>
              </a:gs>
              <a:gs pos="50000">
                <a:srgbClr val="1E2540"/>
              </a:gs>
              <a:gs pos="100000">
                <a:srgbClr val="1A2538"/>
              </a:gs>
            </a:gsLst>
            <a:lin ang="2700000" scaled="1"/>
          </a:gradFill>
          <a:ln w="9525">
            <a:solidFill>
              <a:srgbClr val="C97EF7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1700957" y="4412159"/>
            <a:ext cx="9525" cy="312837"/>
          </a:xfrm>
          <a:prstGeom prst="rect">
            <a:avLst/>
          </a:prstGeom>
          <a:solidFill>
            <a:srgbClr val="C97EF7">
              <a:alpha val="2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912" y="4502209"/>
            <a:ext cx="132588" cy="13258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99207" y="4412159"/>
            <a:ext cx="8661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9" kern="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FUSION</a:t>
            </a:r>
            <a:endParaRPr lang="en-US" sz="730" dirty="0"/>
          </a:p>
        </p:txBody>
      </p:sp>
      <p:sp>
        <p:nvSpPr>
          <p:cNvPr id="52" name="Text 45"/>
          <p:cNvSpPr/>
          <p:nvPr/>
        </p:nvSpPr>
        <p:spPr>
          <a:xfrm>
            <a:off x="799207" y="4565005"/>
            <a:ext cx="86619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C9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Output</a:t>
            </a:r>
            <a:endParaRPr lang="en-US" sz="840" dirty="0"/>
          </a:p>
        </p:txBody>
      </p:sp>
      <p:sp>
        <p:nvSpPr>
          <p:cNvPr id="53" name="Text 46"/>
          <p:cNvSpPr/>
          <p:nvPr/>
        </p:nvSpPr>
        <p:spPr>
          <a:xfrm>
            <a:off x="1824782" y="4439692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C97EF7">
              <a:alpha val="18000"/>
            </a:srgbClr>
          </a:solidFill>
          <a:ln w="9525">
            <a:solidFill>
              <a:srgbClr val="C97EF7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87373" y="4502283"/>
            <a:ext cx="132588" cy="132588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2153543" y="4332238"/>
            <a:ext cx="21570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9" kern="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30" dirty="0"/>
          </a:p>
        </p:txBody>
      </p:sp>
      <p:sp>
        <p:nvSpPr>
          <p:cNvPr id="56" name="Text 48"/>
          <p:cNvSpPr/>
          <p:nvPr/>
        </p:nvSpPr>
        <p:spPr>
          <a:xfrm>
            <a:off x="2153543" y="4485084"/>
            <a:ext cx="2000179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</a:t>
            </a:r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C97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(RRF)</a:t>
            </a:r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merges ranked lists</a:t>
            </a:r>
            <a:endParaRPr lang="en-US" sz="840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07529" y="4502357"/>
            <a:ext cx="132588" cy="132588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4433143" y="4439692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4F8EF7">
              <a:alpha val="18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95735" y="4502283"/>
            <a:ext cx="132588" cy="132588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4761905" y="4332238"/>
            <a:ext cx="21570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29" kern="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30" dirty="0"/>
          </a:p>
        </p:txBody>
      </p:sp>
      <p:sp>
        <p:nvSpPr>
          <p:cNvPr id="61" name="Text 51"/>
          <p:cNvSpPr/>
          <p:nvPr/>
        </p:nvSpPr>
        <p:spPr>
          <a:xfrm>
            <a:off x="4761905" y="4485084"/>
            <a:ext cx="2000179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selects final top passages</a:t>
            </a:r>
            <a:endParaRPr lang="en-US" sz="840" dirty="0"/>
          </a:p>
        </p:txBody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15891" y="4502357"/>
            <a:ext cx="132588" cy="132588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7070675" y="4436269"/>
            <a:ext cx="1463129" cy="264765"/>
          </a:xfrm>
          <a:prstGeom prst="roundRect">
            <a:avLst>
              <a:gd name="adj" fmla="val 26862"/>
            </a:avLst>
          </a:prstGeom>
          <a:gradFill rotWithShape="1">
            <a:gsLst>
              <a:gs pos="0">
                <a:srgbClr val="4F8EF7"/>
              </a:gs>
              <a:gs pos="100000">
                <a:srgbClr val="2D6FD4"/>
              </a:gs>
            </a:gsLst>
            <a:lin ang="2700000" scaled="1"/>
          </a:gradFill>
          <a:ln/>
          <a:effectLst>
            <a:outerShdw sx="100000" sy="100000" kx="0" ky="0" algn="bl" rotWithShape="0" blurRad="100330" dist="13970" dir="5400000">
              <a:srgbClr val="4f8ef7">
                <a:alpha val="3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75385" y="4502283"/>
            <a:ext cx="132588" cy="132588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7341691" y="4493419"/>
            <a:ext cx="117036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Passages → LLM</a:t>
            </a:r>
            <a:endParaRPr lang="en-US" sz="7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0999" y="0"/>
            <a:ext cx="4003001" cy="357378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1219"/>
            <a:ext cx="3431501" cy="300228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499" y="1711999"/>
            <a:ext cx="4433532" cy="343150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4F8EF7"/>
              </a:gs>
              <a:gs pos="70000">
                <a:srgbClr val="A78B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00050" y="342900"/>
            <a:ext cx="21580" cy="445770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4F8EF7">
                  <a:alpha val="50000"/>
                </a:srgbClr>
              </a:gs>
              <a:gs pos="50000">
                <a:srgbClr val="A78BFA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71500" y="285750"/>
            <a:ext cx="892683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55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BACKEND INTEGRATION</a:t>
            </a:r>
            <a:endParaRPr lang="en-US" sz="620" dirty="0"/>
          </a:p>
        </p:txBody>
      </p:sp>
      <p:sp>
        <p:nvSpPr>
          <p:cNvPr id="8" name="Text 3"/>
          <p:cNvSpPr/>
          <p:nvPr/>
        </p:nvSpPr>
        <p:spPr>
          <a:xfrm>
            <a:off x="571500" y="446931"/>
            <a:ext cx="8683371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1"/>
              </a:lnSpc>
              <a:buNone/>
            </a:pPr>
            <a:r>
              <a:rPr lang="en-US" sz="2140" spc="-21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Integration &amp; </a:t>
            </a:r>
            <a:pPr algn="l" indent="0" marL="0">
              <a:lnSpc>
                <a:spcPts val="2461"/>
              </a:lnSpc>
              <a:buNone/>
            </a:pPr>
            <a:r>
              <a:rPr lang="en-US" sz="2140" b="1" spc="-21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Streaming</a:t>
            </a:r>
            <a:endParaRPr lang="en-US" sz="2140" dirty="0"/>
          </a:p>
        </p:txBody>
      </p:sp>
      <p:sp>
        <p:nvSpPr>
          <p:cNvPr id="9" name="Text 4"/>
          <p:cNvSpPr/>
          <p:nvPr/>
        </p:nvSpPr>
        <p:spPr>
          <a:xfrm>
            <a:off x="571500" y="816471"/>
            <a:ext cx="5143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4F8EF7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71500" y="1057870"/>
            <a:ext cx="4079230" cy="1238250"/>
          </a:xfrm>
          <a:prstGeom prst="roundRect">
            <a:avLst>
              <a:gd name="adj" fmla="val 6974"/>
            </a:avLst>
          </a:prstGeom>
          <a:solidFill>
            <a:srgbClr val="1A2D45"/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95325" y="1167705"/>
            <a:ext cx="314920" cy="346412"/>
          </a:xfrm>
          <a:prstGeom prst="roundRect">
            <a:avLst>
              <a:gd name="adj" fmla="val 22584"/>
            </a:avLst>
          </a:prstGeom>
          <a:solidFill>
            <a:srgbClr val="4F8EF7">
              <a:alpha val="14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240" dirty="0"/>
          </a:p>
        </p:txBody>
      </p:sp>
      <p:sp>
        <p:nvSpPr>
          <p:cNvPr id="12" name="Text 7"/>
          <p:cNvSpPr/>
          <p:nvPr/>
        </p:nvSpPr>
        <p:spPr>
          <a:xfrm>
            <a:off x="1780051" y="1191964"/>
            <a:ext cx="403041" cy="112961"/>
          </a:xfrm>
          <a:prstGeom prst="roundRect">
            <a:avLst>
              <a:gd name="adj" fmla="val 38226"/>
            </a:avLst>
          </a:prstGeom>
          <a:solidFill>
            <a:srgbClr val="4F8EF7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7AB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560" dirty="0"/>
          </a:p>
        </p:txBody>
      </p:sp>
      <p:sp>
        <p:nvSpPr>
          <p:cNvPr id="13" name="Text 8"/>
          <p:cNvSpPr/>
          <p:nvPr/>
        </p:nvSpPr>
        <p:spPr>
          <a:xfrm>
            <a:off x="1110555" y="1334095"/>
            <a:ext cx="3484677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</a:t>
            </a:r>
            <a:pPr algn="l" indent="0" marL="0">
              <a:lnSpc>
                <a:spcPts val="1058"/>
              </a:lnSpc>
              <a:buNone/>
            </a:pPr>
            <a:r>
              <a:rPr lang="en-US" sz="650" dirty="0">
                <a:solidFill>
                  <a:srgbClr val="4F8EF7"/>
                </a:solidFill>
                <a:highlight>
                  <a:srgbClr val="4F8EF7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gpt-3.5-turbo</a:t>
            </a:r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algn="l" indent="0" marL="0">
              <a:lnSpc>
                <a:spcPts val="1058"/>
              </a:lnSpc>
              <a:buNone/>
            </a:pPr>
            <a:r>
              <a:rPr lang="en-US" sz="650" dirty="0">
                <a:solidFill>
                  <a:srgbClr val="4F8EF7"/>
                </a:solidFill>
                <a:highlight>
                  <a:srgbClr val="4F8EF7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gpt-4</a:t>
            </a:r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</a:t>
            </a:r>
            <a:pPr algn="l" indent="0" marL="0">
              <a:lnSpc>
                <a:spcPts val="1058"/>
              </a:lnSpc>
              <a:buNone/>
            </a:pPr>
            <a:r>
              <a:rPr lang="en-US" sz="650" dirty="0">
                <a:solidFill>
                  <a:srgbClr val="4F8EF7"/>
                </a:solidFill>
                <a:highlight>
                  <a:srgbClr val="4F8EF7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SDK. API key loaded from env var </a:t>
            </a:r>
            <a:pPr algn="l" indent="0" marL="0">
              <a:lnSpc>
                <a:spcPts val="1058"/>
              </a:lnSpc>
              <a:buNone/>
            </a:pPr>
            <a:r>
              <a:rPr lang="en-US" sz="650" dirty="0">
                <a:solidFill>
                  <a:srgbClr val="4F8EF7"/>
                </a:solidFill>
                <a:highlight>
                  <a:srgbClr val="4F8EF7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zero hardcoded secrets.</a:t>
            </a:r>
            <a:endParaRPr lang="en-US" sz="730" dirty="0"/>
          </a:p>
        </p:txBody>
      </p:sp>
      <p:sp>
        <p:nvSpPr>
          <p:cNvPr id="14" name="Text 9"/>
          <p:cNvSpPr/>
          <p:nvPr/>
        </p:nvSpPr>
        <p:spPr>
          <a:xfrm>
            <a:off x="4721721" y="1057870"/>
            <a:ext cx="4079379" cy="1238250"/>
          </a:xfrm>
          <a:prstGeom prst="roundRect">
            <a:avLst>
              <a:gd name="adj" fmla="val 6974"/>
            </a:avLst>
          </a:prstGeom>
          <a:solidFill>
            <a:srgbClr val="1A2D45"/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845546" y="1167705"/>
            <a:ext cx="314920" cy="346412"/>
          </a:xfrm>
          <a:prstGeom prst="roundRect">
            <a:avLst>
              <a:gd name="adj" fmla="val 22584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</a:t>
            </a:r>
            <a:endParaRPr lang="en-US" sz="1240" dirty="0"/>
          </a:p>
        </p:txBody>
      </p:sp>
      <p:sp>
        <p:nvSpPr>
          <p:cNvPr id="16" name="Text 11"/>
          <p:cNvSpPr/>
          <p:nvPr/>
        </p:nvSpPr>
        <p:spPr>
          <a:xfrm>
            <a:off x="5908176" y="1191964"/>
            <a:ext cx="394996" cy="112961"/>
          </a:xfrm>
          <a:prstGeom prst="roundRect">
            <a:avLst>
              <a:gd name="adj" fmla="val 38226"/>
            </a:avLst>
          </a:prstGeom>
          <a:solidFill>
            <a:srgbClr val="34D39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560" dirty="0"/>
          </a:p>
        </p:txBody>
      </p:sp>
      <p:sp>
        <p:nvSpPr>
          <p:cNvPr id="17" name="Text 12"/>
          <p:cNvSpPr/>
          <p:nvPr/>
        </p:nvSpPr>
        <p:spPr>
          <a:xfrm>
            <a:off x="5260777" y="1334095"/>
            <a:ext cx="3484828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via Ollama REST API at </a:t>
            </a:r>
            <a:pPr algn="l" indent="0" marL="0">
              <a:lnSpc>
                <a:spcPts val="1058"/>
              </a:lnSpc>
              <a:buNone/>
            </a:pPr>
            <a:r>
              <a:rPr lang="en-US" sz="650" dirty="0">
                <a:solidFill>
                  <a:srgbClr val="4F8EF7"/>
                </a:solidFill>
                <a:highlight>
                  <a:srgbClr val="4F8EF7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localhost:11434</a:t>
            </a:r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cloud dependency, no data leaves the machine.</a:t>
            </a:r>
            <a:endParaRPr lang="en-US" sz="730" dirty="0"/>
          </a:p>
        </p:txBody>
      </p:sp>
      <p:sp>
        <p:nvSpPr>
          <p:cNvPr id="18" name="Text 13"/>
          <p:cNvSpPr/>
          <p:nvPr/>
        </p:nvSpPr>
        <p:spPr>
          <a:xfrm>
            <a:off x="571500" y="2367111"/>
            <a:ext cx="4079230" cy="1238399"/>
          </a:xfrm>
          <a:prstGeom prst="roundRect">
            <a:avLst>
              <a:gd name="adj" fmla="val 6974"/>
            </a:avLst>
          </a:prstGeom>
          <a:solidFill>
            <a:srgbClr val="1A2D45"/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95325" y="2476946"/>
            <a:ext cx="314920" cy="346412"/>
          </a:xfrm>
          <a:prstGeom prst="roundRect">
            <a:avLst>
              <a:gd name="adj" fmla="val 22584"/>
            </a:avLst>
          </a:prstGeom>
          <a:solidFill>
            <a:srgbClr val="22D3EE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1240" dirty="0"/>
          </a:p>
        </p:txBody>
      </p:sp>
      <p:sp>
        <p:nvSpPr>
          <p:cNvPr id="20" name="Text 15"/>
          <p:cNvSpPr/>
          <p:nvPr/>
        </p:nvSpPr>
        <p:spPr>
          <a:xfrm>
            <a:off x="1110555" y="2476946"/>
            <a:ext cx="3757985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</a:t>
            </a:r>
            <a:endParaRPr lang="en-US" sz="790" dirty="0"/>
          </a:p>
        </p:txBody>
      </p:sp>
      <p:sp>
        <p:nvSpPr>
          <p:cNvPr id="21" name="Text 16"/>
          <p:cNvSpPr/>
          <p:nvPr/>
        </p:nvSpPr>
        <p:spPr>
          <a:xfrm>
            <a:off x="1110555" y="2626370"/>
            <a:ext cx="3484677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stream via </a:t>
            </a:r>
            <a:pPr algn="l" indent="0" marL="0">
              <a:lnSpc>
                <a:spcPts val="1058"/>
              </a:lnSpc>
              <a:buNone/>
            </a:pPr>
            <a:r>
              <a:rPr lang="en-US" sz="650" dirty="0">
                <a:solidFill>
                  <a:srgbClr val="4F8EF7"/>
                </a:solidFill>
                <a:highlight>
                  <a:srgbClr val="4F8EF7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requests(stream=True)</a:t>
            </a:r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JSON lines parsed per frame.</a:t>
            </a:r>
            <a:endParaRPr lang="en-US" sz="730" dirty="0"/>
          </a:p>
        </p:txBody>
      </p:sp>
      <p:sp>
        <p:nvSpPr>
          <p:cNvPr id="22" name="Text 17"/>
          <p:cNvSpPr/>
          <p:nvPr/>
        </p:nvSpPr>
        <p:spPr>
          <a:xfrm>
            <a:off x="1110555" y="2930575"/>
            <a:ext cx="431899" cy="168786"/>
          </a:xfrm>
          <a:prstGeom prst="roundRect">
            <a:avLst>
              <a:gd name="adj" fmla="val 17306"/>
            </a:avLst>
          </a:prstGeom>
          <a:solidFill>
            <a:srgbClr val="34D399">
              <a:alpha val="4000"/>
            </a:srgbClr>
          </a:solidFill>
          <a:ln w="9525">
            <a:solidFill>
              <a:srgbClr val="34D399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{"resp":</a:t>
            </a:r>
            <a:endParaRPr lang="en-US" sz="560" dirty="0"/>
          </a:p>
        </p:txBody>
      </p:sp>
      <p:sp>
        <p:nvSpPr>
          <p:cNvPr id="23" name="Text 18"/>
          <p:cNvSpPr/>
          <p:nvPr/>
        </p:nvSpPr>
        <p:spPr>
          <a:xfrm>
            <a:off x="1571625" y="2930575"/>
            <a:ext cx="389186" cy="168786"/>
          </a:xfrm>
          <a:prstGeom prst="roundRect">
            <a:avLst>
              <a:gd name="adj" fmla="val 17306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560" dirty="0"/>
          </a:p>
        </p:txBody>
      </p:sp>
      <p:sp>
        <p:nvSpPr>
          <p:cNvPr id="24" name="Text 19"/>
          <p:cNvSpPr/>
          <p:nvPr/>
        </p:nvSpPr>
        <p:spPr>
          <a:xfrm>
            <a:off x="1989981" y="2930575"/>
            <a:ext cx="218182" cy="168786"/>
          </a:xfrm>
          <a:prstGeom prst="roundRect">
            <a:avLst>
              <a:gd name="adj" fmla="val 17306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endParaRPr lang="en-US" sz="560" dirty="0"/>
          </a:p>
        </p:txBody>
      </p:sp>
      <p:sp>
        <p:nvSpPr>
          <p:cNvPr id="25" name="Text 20"/>
          <p:cNvSpPr/>
          <p:nvPr/>
        </p:nvSpPr>
        <p:spPr>
          <a:xfrm>
            <a:off x="2237333" y="2930575"/>
            <a:ext cx="303609" cy="168786"/>
          </a:xfrm>
          <a:prstGeom prst="roundRect">
            <a:avLst>
              <a:gd name="adj" fmla="val 17306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My"</a:t>
            </a:r>
            <a:endParaRPr lang="en-US" sz="560" dirty="0"/>
          </a:p>
        </p:txBody>
      </p:sp>
      <p:sp>
        <p:nvSpPr>
          <p:cNvPr id="26" name="Text 21"/>
          <p:cNvSpPr/>
          <p:nvPr/>
        </p:nvSpPr>
        <p:spPr>
          <a:xfrm>
            <a:off x="2570113" y="2930575"/>
            <a:ext cx="389186" cy="168786"/>
          </a:xfrm>
          <a:prstGeom prst="roundRect">
            <a:avLst>
              <a:gd name="adj" fmla="val 17306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name"</a:t>
            </a:r>
            <a:endParaRPr lang="en-US" sz="560" dirty="0"/>
          </a:p>
        </p:txBody>
      </p:sp>
      <p:sp>
        <p:nvSpPr>
          <p:cNvPr id="27" name="Text 22"/>
          <p:cNvSpPr/>
          <p:nvPr/>
        </p:nvSpPr>
        <p:spPr>
          <a:xfrm>
            <a:off x="2988469" y="2930575"/>
            <a:ext cx="303609" cy="168786"/>
          </a:xfrm>
          <a:prstGeom prst="roundRect">
            <a:avLst>
              <a:gd name="adj" fmla="val 17306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is"</a:t>
            </a:r>
            <a:endParaRPr lang="en-US" sz="560" dirty="0"/>
          </a:p>
        </p:txBody>
      </p:sp>
      <p:sp>
        <p:nvSpPr>
          <p:cNvPr id="28" name="Text 23"/>
          <p:cNvSpPr/>
          <p:nvPr/>
        </p:nvSpPr>
        <p:spPr>
          <a:xfrm>
            <a:off x="3321248" y="2948285"/>
            <a:ext cx="864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3442841" y="2960936"/>
            <a:ext cx="49411" cy="92571"/>
          </a:xfrm>
          <a:prstGeom prst="roundRect">
            <a:avLst>
              <a:gd name="adj" fmla="val 15422"/>
            </a:avLst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721721" y="2367111"/>
            <a:ext cx="4079379" cy="1238399"/>
          </a:xfrm>
          <a:prstGeom prst="roundRect">
            <a:avLst>
              <a:gd name="adj" fmla="val 6974"/>
            </a:avLst>
          </a:prstGeom>
          <a:solidFill>
            <a:srgbClr val="1A2D45"/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845546" y="2476946"/>
            <a:ext cx="314920" cy="346412"/>
          </a:xfrm>
          <a:prstGeom prst="roundRect">
            <a:avLst>
              <a:gd name="adj" fmla="val 22584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240" dirty="0"/>
          </a:p>
        </p:txBody>
      </p:sp>
      <p:sp>
        <p:nvSpPr>
          <p:cNvPr id="32" name="Text 27"/>
          <p:cNvSpPr/>
          <p:nvPr/>
        </p:nvSpPr>
        <p:spPr>
          <a:xfrm>
            <a:off x="5260777" y="2476946"/>
            <a:ext cx="3758148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790" dirty="0"/>
          </a:p>
        </p:txBody>
      </p:sp>
      <p:sp>
        <p:nvSpPr>
          <p:cNvPr id="33" name="Text 28"/>
          <p:cNvSpPr/>
          <p:nvPr/>
        </p:nvSpPr>
        <p:spPr>
          <a:xfrm>
            <a:off x="5260777" y="2626370"/>
            <a:ext cx="3484828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context injected into the </a:t>
            </a:r>
            <a:pPr algn="l" indent="0" marL="0">
              <a:lnSpc>
                <a:spcPts val="1058"/>
              </a:lnSpc>
              <a:buNone/>
            </a:pPr>
            <a:r>
              <a:rPr lang="en-US" sz="73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prompt. User question appended as the </a:t>
            </a:r>
            <a:pPr algn="l" indent="0" marL="0">
              <a:lnSpc>
                <a:spcPts val="1058"/>
              </a:lnSpc>
              <a:buNone/>
            </a:pPr>
            <a:r>
              <a:rPr lang="en-US" sz="73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algn="l" indent="0" marL="0">
              <a:lnSpc>
                <a:spcPts val="1058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message — keeps LLM grounded in evidence.</a:t>
            </a:r>
            <a:endParaRPr lang="en-US" sz="730" dirty="0"/>
          </a:p>
        </p:txBody>
      </p:sp>
      <p:sp>
        <p:nvSpPr>
          <p:cNvPr id="34" name="Text 29"/>
          <p:cNvSpPr/>
          <p:nvPr/>
        </p:nvSpPr>
        <p:spPr>
          <a:xfrm>
            <a:off x="571500" y="3676501"/>
            <a:ext cx="8229600" cy="1238399"/>
          </a:xfrm>
          <a:prstGeom prst="roundRect">
            <a:avLst>
              <a:gd name="adj" fmla="val 6974"/>
            </a:avLst>
          </a:prstGeom>
          <a:solidFill>
            <a:srgbClr val="1A2D45"/>
          </a:solidFill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695325" y="3786336"/>
            <a:ext cx="314920" cy="346412"/>
          </a:xfrm>
          <a:prstGeom prst="roundRect">
            <a:avLst>
              <a:gd name="adj" fmla="val 22584"/>
            </a:avLst>
          </a:prstGeom>
          <a:solidFill>
            <a:srgbClr val="FB923C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240" dirty="0"/>
          </a:p>
        </p:txBody>
      </p:sp>
      <p:sp>
        <p:nvSpPr>
          <p:cNvPr id="36" name="Text 31"/>
          <p:cNvSpPr/>
          <p:nvPr/>
        </p:nvSpPr>
        <p:spPr>
          <a:xfrm>
            <a:off x="1110555" y="3786336"/>
            <a:ext cx="540197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Output &amp; Streamlit UI</a:t>
            </a:r>
            <a:endParaRPr lang="en-US" sz="790" dirty="0"/>
          </a:p>
        </p:txBody>
      </p:sp>
      <p:sp>
        <p:nvSpPr>
          <p:cNvPr id="37" name="Text 32"/>
          <p:cNvSpPr/>
          <p:nvPr/>
        </p:nvSpPr>
        <p:spPr>
          <a:xfrm>
            <a:off x="4444752" y="3940969"/>
            <a:ext cx="571649" cy="145703"/>
          </a:xfrm>
          <a:prstGeom prst="roundRect">
            <a:avLst>
              <a:gd name="adj" fmla="val 24406"/>
            </a:avLst>
          </a:prstGeom>
          <a:solidFill>
            <a:srgbClr val="FF4B4B">
              <a:alpha val="12000"/>
            </a:srgbClr>
          </a:solidFill>
          <a:ln w="9525">
            <a:solidFill>
              <a:srgbClr val="FF4B4B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560" dirty="0"/>
          </a:p>
        </p:txBody>
      </p:sp>
      <p:sp>
        <p:nvSpPr>
          <p:cNvPr id="38" name="Text 33"/>
          <p:cNvSpPr/>
          <p:nvPr/>
        </p:nvSpPr>
        <p:spPr>
          <a:xfrm>
            <a:off x="1101407" y="4081611"/>
            <a:ext cx="933143" cy="110430"/>
          </a:xfrm>
          <a:prstGeom prst="roundRect">
            <a:avLst>
              <a:gd name="adj" fmla="val 26451"/>
            </a:avLst>
          </a:prstGeom>
          <a:solidFill>
            <a:srgbClr val="4F8EF7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st.write_stream()</a:t>
            </a:r>
            <a:endParaRPr lang="en-US" sz="650" dirty="0"/>
          </a:p>
        </p:txBody>
      </p:sp>
      <p:sp>
        <p:nvSpPr>
          <p:cNvPr id="39" name="Text 34"/>
          <p:cNvSpPr/>
          <p:nvPr/>
        </p:nvSpPr>
        <p:spPr>
          <a:xfrm>
            <a:off x="6302169" y="3883670"/>
            <a:ext cx="511885" cy="223391"/>
          </a:xfrm>
          <a:prstGeom prst="roundRect">
            <a:avLst>
              <a:gd name="adj" fmla="val 25583"/>
            </a:avLst>
          </a:prstGeom>
          <a:solidFill>
            <a:srgbClr val="4F8EF7">
              <a:alpha val="15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lIns="71120" tIns="43180" rIns="71120" bIns="43180" rtlCol="0" anchor="t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62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1085" y="3929071"/>
            <a:ext cx="189824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998598" y="3883670"/>
            <a:ext cx="444788" cy="223391"/>
          </a:xfrm>
          <a:prstGeom prst="roundRect">
            <a:avLst>
              <a:gd name="adj" fmla="val 25583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>
                <a:alpha val="30000"/>
              </a:srgbClr>
            </a:solidFill>
          </a:ln>
        </p:spPr>
        <p:txBody>
          <a:bodyPr wrap="none" lIns="71120" tIns="43180" rIns="71120" bIns="43180" rtlCol="0" anchor="t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62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1075" y="3929071"/>
            <a:ext cx="189824" cy="13258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629723" y="3883670"/>
            <a:ext cx="328961" cy="223391"/>
          </a:xfrm>
          <a:prstGeom prst="roundRect">
            <a:avLst>
              <a:gd name="adj" fmla="val 25583"/>
            </a:avLst>
          </a:prstGeom>
          <a:solidFill>
            <a:srgbClr val="34D399">
              <a:alpha val="15000"/>
            </a:srgbClr>
          </a:solidFill>
          <a:ln w="9525">
            <a:solidFill>
              <a:srgbClr val="34D399">
                <a:alpha val="30000"/>
              </a:srgbClr>
            </a:solidFill>
          </a:ln>
        </p:spPr>
        <p:txBody>
          <a:bodyPr wrap="none" lIns="71120" tIns="43180" rIns="71120" bIns="43180" rtlCol="0" anchor="t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62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7508" y="3929071"/>
            <a:ext cx="189824" cy="13258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144103" y="3883670"/>
            <a:ext cx="538451" cy="223391"/>
          </a:xfrm>
          <a:prstGeom prst="roundRect">
            <a:avLst>
              <a:gd name="adj" fmla="val 25583"/>
            </a:avLst>
          </a:prstGeom>
          <a:solidFill>
            <a:srgbClr val="FB923C">
              <a:alpha val="15000"/>
            </a:srgbClr>
          </a:solidFill>
          <a:ln w="9525">
            <a:solidFill>
              <a:srgbClr val="FB923C">
                <a:alpha val="30000"/>
              </a:srgbClr>
            </a:solidFill>
          </a:ln>
        </p:spPr>
        <p:txBody>
          <a:bodyPr wrap="none" lIns="71120" tIns="43180" rIns="71120" bIns="43180" rtlCol="0" anchor="t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Stream</a:t>
            </a:r>
            <a:endParaRPr lang="en-US" sz="620" dirty="0"/>
          </a:p>
        </p:txBody>
      </p:sp>
      <p:sp>
        <p:nvSpPr>
          <p:cNvPr id="46" name="Text 38"/>
          <p:cNvSpPr/>
          <p:nvPr/>
        </p:nvSpPr>
        <p:spPr>
          <a:xfrm>
            <a:off x="581025" y="1067395"/>
            <a:ext cx="21580" cy="1219200"/>
          </a:xfrm>
          <a:custGeom>
            <a:avLst/>
            <a:gdLst/>
            <a:ahLst/>
            <a:cxnLst/>
            <a:rect l="l" t="t" r="r" b="b"/>
            <a:pathLst>
              <a:path w="21580" h="1219200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1189950"/>
                </a:lnTo>
                <a:lnTo>
                  <a:pt x="18883" y="1186737"/>
                </a:lnTo>
                <a:lnTo>
                  <a:pt x="16185" y="1183174"/>
                </a:lnTo>
                <a:lnTo>
                  <a:pt x="13488" y="1179183"/>
                </a:lnTo>
                <a:lnTo>
                  <a:pt x="10790" y="1174640"/>
                </a:lnTo>
                <a:lnTo>
                  <a:pt x="8093" y="1169340"/>
                </a:lnTo>
                <a:lnTo>
                  <a:pt x="5395" y="1162885"/>
                </a:lnTo>
                <a:lnTo>
                  <a:pt x="2698" y="1154256"/>
                </a:lnTo>
                <a:lnTo>
                  <a:pt x="0" y="1132840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4731246" y="1067395"/>
            <a:ext cx="21580" cy="1219200"/>
          </a:xfrm>
          <a:custGeom>
            <a:avLst/>
            <a:gdLst/>
            <a:ahLst/>
            <a:cxnLst/>
            <a:rect l="l" t="t" r="r" b="b"/>
            <a:pathLst>
              <a:path w="21580" h="1219200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1189950"/>
                </a:lnTo>
                <a:lnTo>
                  <a:pt x="18883" y="1186737"/>
                </a:lnTo>
                <a:lnTo>
                  <a:pt x="16185" y="1183174"/>
                </a:lnTo>
                <a:lnTo>
                  <a:pt x="13488" y="1179183"/>
                </a:lnTo>
                <a:lnTo>
                  <a:pt x="10790" y="1174640"/>
                </a:lnTo>
                <a:lnTo>
                  <a:pt x="8093" y="1169340"/>
                </a:lnTo>
                <a:lnTo>
                  <a:pt x="5395" y="1162885"/>
                </a:lnTo>
                <a:lnTo>
                  <a:pt x="2698" y="1154256"/>
                </a:lnTo>
                <a:lnTo>
                  <a:pt x="0" y="1132840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581025" y="2376636"/>
            <a:ext cx="21580" cy="1219352"/>
          </a:xfrm>
          <a:custGeom>
            <a:avLst/>
            <a:gdLst/>
            <a:ahLst/>
            <a:cxnLst/>
            <a:rect l="l" t="t" r="r" b="b"/>
            <a:pathLst>
              <a:path w="21580" h="1219352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1190103"/>
                </a:lnTo>
                <a:lnTo>
                  <a:pt x="18883" y="1186889"/>
                </a:lnTo>
                <a:lnTo>
                  <a:pt x="16185" y="1183326"/>
                </a:lnTo>
                <a:lnTo>
                  <a:pt x="13488" y="1179335"/>
                </a:lnTo>
                <a:lnTo>
                  <a:pt x="10790" y="1174792"/>
                </a:lnTo>
                <a:lnTo>
                  <a:pt x="8093" y="1169492"/>
                </a:lnTo>
                <a:lnTo>
                  <a:pt x="5395" y="1163038"/>
                </a:lnTo>
                <a:lnTo>
                  <a:pt x="2698" y="1154408"/>
                </a:lnTo>
                <a:lnTo>
                  <a:pt x="0" y="1132992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4731246" y="2376636"/>
            <a:ext cx="21580" cy="1219352"/>
          </a:xfrm>
          <a:custGeom>
            <a:avLst/>
            <a:gdLst/>
            <a:ahLst/>
            <a:cxnLst/>
            <a:rect l="l" t="t" r="r" b="b"/>
            <a:pathLst>
              <a:path w="21580" h="1219352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1190103"/>
                </a:lnTo>
                <a:lnTo>
                  <a:pt x="18883" y="1186889"/>
                </a:lnTo>
                <a:lnTo>
                  <a:pt x="16185" y="1183326"/>
                </a:lnTo>
                <a:lnTo>
                  <a:pt x="13488" y="1179335"/>
                </a:lnTo>
                <a:lnTo>
                  <a:pt x="10790" y="1174792"/>
                </a:lnTo>
                <a:lnTo>
                  <a:pt x="8093" y="1169492"/>
                </a:lnTo>
                <a:lnTo>
                  <a:pt x="5395" y="1163038"/>
                </a:lnTo>
                <a:lnTo>
                  <a:pt x="2698" y="1154408"/>
                </a:lnTo>
                <a:lnTo>
                  <a:pt x="0" y="1132992"/>
                </a:lnTo>
                <a:close/>
              </a:path>
            </a:pathLst>
          </a:custGeom>
          <a:solidFill>
            <a:srgbClr val="A78BF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581025" y="3686026"/>
            <a:ext cx="21580" cy="1219352"/>
          </a:xfrm>
          <a:custGeom>
            <a:avLst/>
            <a:gdLst/>
            <a:ahLst/>
            <a:cxnLst/>
            <a:rect l="l" t="t" r="r" b="b"/>
            <a:pathLst>
              <a:path w="21580" h="1219352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1190103"/>
                </a:lnTo>
                <a:lnTo>
                  <a:pt x="18883" y="1186889"/>
                </a:lnTo>
                <a:lnTo>
                  <a:pt x="16185" y="1183326"/>
                </a:lnTo>
                <a:lnTo>
                  <a:pt x="13488" y="1179335"/>
                </a:lnTo>
                <a:lnTo>
                  <a:pt x="10790" y="1174792"/>
                </a:lnTo>
                <a:lnTo>
                  <a:pt x="8093" y="1169492"/>
                </a:lnTo>
                <a:lnTo>
                  <a:pt x="5395" y="1163038"/>
                </a:lnTo>
                <a:lnTo>
                  <a:pt x="2698" y="1154408"/>
                </a:lnTo>
                <a:lnTo>
                  <a:pt x="0" y="1132992"/>
                </a:lnTo>
                <a:close/>
              </a:path>
            </a:pathLst>
          </a:custGeom>
          <a:solidFill>
            <a:srgbClr val="FB923C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15216" cy="2715216"/>
          </a:xfrm>
          <a:prstGeom prst="rect">
            <a:avLst/>
          </a:prstGeom>
          <a:gradFill rotWithShape="1">
            <a:gsLst>
              <a:gs pos="0">
                <a:srgbClr val="4F8EF7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0" y="2857500"/>
            <a:ext cx="2286000" cy="2286000"/>
          </a:xfrm>
          <a:prstGeom prst="rect">
            <a:avLst/>
          </a:prstGeom>
          <a:gradFill rotWithShape="1">
            <a:gsLst>
              <a:gs pos="0">
                <a:srgbClr val="C084FC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4F8EF7"/>
              </a:gs>
              <a:gs pos="70000">
                <a:srgbClr val="C084FC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585341"/>
          </a:xfrm>
          <a:prstGeom prst="rect">
            <a:avLst/>
          </a:prstGeom>
          <a:gradFill rotWithShape="1">
            <a:gsLst>
              <a:gs pos="0">
                <a:srgbClr val="4F8EF7">
                  <a:alpha val="12000"/>
                </a:srgbClr>
              </a:gs>
              <a:gs pos="100000">
                <a:srgbClr val="1A2D45">
                  <a:alpha val="60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575816"/>
            <a:ext cx="9144000" cy="9525"/>
          </a:xfrm>
          <a:prstGeom prst="rect">
            <a:avLst/>
          </a:prstGeom>
          <a:solidFill>
            <a:srgbClr val="4F8EF7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9220" y="14495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4F8EF7">
              <a:alpha val="15000"/>
            </a:srgbClr>
          </a:solidFill>
          <a:ln w="9525">
            <a:solidFill>
              <a:srgbClr val="4F8EF7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5727" y="221465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9270" y="109538"/>
            <a:ext cx="3170590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06"/>
              </a:lnSpc>
              <a:buNone/>
            </a:pPr>
            <a:r>
              <a:rPr lang="en-US" sz="1460" spc="15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Code: </a:t>
            </a:r>
            <a:pPr algn="l" indent="0" marL="0">
              <a:lnSpc>
                <a:spcPts val="1606"/>
              </a:lnSpc>
              <a:buNone/>
            </a:pPr>
            <a:r>
              <a:rPr lang="en-US" sz="1240" spc="15" kern="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ingestion/pipeline.py</a:t>
            </a:r>
            <a:endParaRPr lang="en-US" sz="1460" dirty="0"/>
          </a:p>
        </p:txBody>
      </p:sp>
      <p:sp>
        <p:nvSpPr>
          <p:cNvPr id="12" name="Text 9"/>
          <p:cNvSpPr/>
          <p:nvPr/>
        </p:nvSpPr>
        <p:spPr>
          <a:xfrm>
            <a:off x="829270" y="327273"/>
            <a:ext cx="325948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spc="29" kern="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LOADING · INDEXING · RETRIEVAL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6450657" y="259259"/>
            <a:ext cx="57150" cy="57150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43180" dist="50800" dir="16200000">
              <a:srgbClr val="4ade80">
                <a:alpha val="6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564957" y="223093"/>
            <a:ext cx="239689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functions · clean separation of concerns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429220" y="699641"/>
            <a:ext cx="2637830" cy="3957191"/>
          </a:xfrm>
          <a:prstGeom prst="roundRect">
            <a:avLst>
              <a:gd name="adj" fmla="val 2167"/>
            </a:avLst>
          </a:prstGeom>
          <a:solidFill>
            <a:srgbClr val="0A1520"/>
          </a:solidFill>
          <a:ln w="9525">
            <a:solidFill>
              <a:srgbClr val="4F8EF7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38745" y="709166"/>
            <a:ext cx="2618780" cy="373856"/>
          </a:xfrm>
          <a:prstGeom prst="rect">
            <a:avLst/>
          </a:prstGeom>
          <a:solidFill>
            <a:srgbClr val="4F8EF7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38745" y="1073497"/>
            <a:ext cx="2618780" cy="9525"/>
          </a:xfrm>
          <a:prstGeom prst="rect">
            <a:avLst/>
          </a:prstGeom>
          <a:solidFill>
            <a:srgbClr val="4F8EF7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39055" y="855762"/>
            <a:ext cx="60424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56630" y="855762"/>
            <a:ext cx="60424" cy="70991"/>
          </a:xfrm>
          <a:prstGeom prst="ellipse">
            <a:avLst/>
          </a:prstGeom>
          <a:solidFill>
            <a:srgbClr val="FFBD2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74204" y="855762"/>
            <a:ext cx="60424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948928" y="812602"/>
            <a:ext cx="157460" cy="173206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22" name="Text 19"/>
          <p:cNvSpPr/>
          <p:nvPr/>
        </p:nvSpPr>
        <p:spPr>
          <a:xfrm>
            <a:off x="1149548" y="752326"/>
            <a:ext cx="1170566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Loading &amp; Chunking</a:t>
            </a:r>
            <a:endParaRPr lang="en-US" sz="730" dirty="0"/>
          </a:p>
        </p:txBody>
      </p:sp>
      <p:sp>
        <p:nvSpPr>
          <p:cNvPr id="23" name="Text 20"/>
          <p:cNvSpPr/>
          <p:nvPr/>
        </p:nvSpPr>
        <p:spPr>
          <a:xfrm>
            <a:off x="2354312" y="826591"/>
            <a:ext cx="66319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PIPELINE.PY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553045" y="1169343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i="1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and chunk source documents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553045" y="1326952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ingest_documents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source_dir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553045" y="1484561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load_pdfs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source_dir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27" name="Text 24"/>
          <p:cNvSpPr/>
          <p:nvPr/>
        </p:nvSpPr>
        <p:spPr>
          <a:xfrm>
            <a:off x="553045" y="1642170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chunk_documents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28" name="Text 25"/>
          <p:cNvSpPr/>
          <p:nvPr/>
        </p:nvSpPr>
        <p:spPr>
          <a:xfrm>
            <a:off x="553045" y="1799779"/>
            <a:ext cx="2629198" cy="157609"/>
          </a:xfrm>
          <a:prstGeom prst="rect">
            <a:avLst/>
          </a:prstGeom>
          <a:noFill/>
          <a:ln/>
        </p:spPr>
        <p:txBody>
          <a:bodyPr wrap="none" lIns="28575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553045" y="1957388"/>
            <a:ext cx="2629198" cy="157609"/>
          </a:xfrm>
          <a:prstGeom prst="rect">
            <a:avLst/>
          </a:prstGeom>
          <a:noFill/>
          <a:ln/>
        </p:spPr>
        <p:txBody>
          <a:bodyPr wrap="none" lIns="28575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30" name="Text 27"/>
          <p:cNvSpPr/>
          <p:nvPr/>
        </p:nvSpPr>
        <p:spPr>
          <a:xfrm>
            <a:off x="553045" y="2114996"/>
            <a:ext cx="2629198" cy="157609"/>
          </a:xfrm>
          <a:prstGeom prst="rect">
            <a:avLst/>
          </a:prstGeom>
          <a:noFill/>
          <a:ln/>
        </p:spPr>
        <p:txBody>
          <a:bodyPr wrap="none" lIns="28575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overlap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553045" y="2272605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553045" y="2430214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33" name="Text 30"/>
          <p:cNvSpPr/>
          <p:nvPr/>
        </p:nvSpPr>
        <p:spPr>
          <a:xfrm>
            <a:off x="553045" y="2658814"/>
            <a:ext cx="2390180" cy="420023"/>
          </a:xfrm>
          <a:prstGeom prst="rect">
            <a:avLst/>
          </a:prstGeom>
          <a:solidFill>
            <a:srgbClr val="4F8EF7">
              <a:alpha val="7000"/>
            </a:srgbClr>
          </a:solidFill>
          <a:ln/>
        </p:spPr>
        <p:txBody>
          <a:bodyPr wrap="none" lIns="71120" tIns="57150" rIns="71120" bIns="5715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/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</a:t>
            </a:r>
            <a:pPr algn="l" indent="0" marL="0">
              <a:buNone/>
            </a:pPr>
            <a:r>
              <a:rPr lang="en-US" sz="68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chunk_size=</a:t>
            </a:r>
            <a:pPr algn="l" indent="0" marL="0">
              <a:buNone/>
            </a:pPr>
            <a:r>
              <a:rPr lang="en-US" sz="68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tokens · overlap=</a:t>
            </a:r>
            <a:pPr algn="l" indent="0" marL="0">
              <a:buNone/>
            </a:pPr>
            <a:r>
              <a:rPr lang="en-US" sz="68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preserves boundary context</a:t>
            </a:r>
            <a:br/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553045" y="2658814"/>
            <a:ext cx="9525" cy="407789"/>
          </a:xfrm>
          <a:prstGeom prst="rect">
            <a:avLst/>
          </a:prstGeom>
          <a:solidFill>
            <a:srgbClr val="4F8E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163491" y="699641"/>
            <a:ext cx="7590" cy="1914079"/>
          </a:xfrm>
          <a:prstGeom prst="rect">
            <a:avLst/>
          </a:prstGeom>
          <a:gradFill rotWithShape="1">
            <a:gsLst>
              <a:gs pos="0">
                <a:srgbClr val="4F8EF7">
                  <a:alpha val="30000"/>
                </a:srgbClr>
              </a:gs>
              <a:gs pos="100000">
                <a:srgbClr val="4F8EF7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1066" y="2611868"/>
            <a:ext cx="132588" cy="13258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3163491" y="2742605"/>
            <a:ext cx="7590" cy="1914227"/>
          </a:xfrm>
          <a:prstGeom prst="rect">
            <a:avLst/>
          </a:prstGeom>
          <a:gradFill rotWithShape="1">
            <a:gsLst>
              <a:gs pos="0">
                <a:srgbClr val="4F8EF7">
                  <a:alpha val="30000"/>
                </a:srgbClr>
              </a:gs>
              <a:gs pos="100000">
                <a:srgbClr val="4F8EF7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3267670" y="699641"/>
            <a:ext cx="2637830" cy="3957191"/>
          </a:xfrm>
          <a:prstGeom prst="roundRect">
            <a:avLst>
              <a:gd name="adj" fmla="val 2167"/>
            </a:avLst>
          </a:prstGeom>
          <a:solidFill>
            <a:srgbClr val="0A1520"/>
          </a:solidFill>
          <a:ln w="9525">
            <a:solidFill>
              <a:srgbClr val="4F8EF7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277195" y="709166"/>
            <a:ext cx="2618780" cy="373856"/>
          </a:xfrm>
          <a:prstGeom prst="rect">
            <a:avLst/>
          </a:prstGeom>
          <a:solidFill>
            <a:srgbClr val="4F8EF7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3277195" y="1073497"/>
            <a:ext cx="2618780" cy="9525"/>
          </a:xfrm>
          <a:prstGeom prst="rect">
            <a:avLst/>
          </a:prstGeom>
          <a:solidFill>
            <a:srgbClr val="4F8EF7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377505" y="855762"/>
            <a:ext cx="66080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3500735" y="855762"/>
            <a:ext cx="66080" cy="70991"/>
          </a:xfrm>
          <a:prstGeom prst="ellipse">
            <a:avLst/>
          </a:prstGeom>
          <a:solidFill>
            <a:srgbClr val="FFBD2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623965" y="855762"/>
            <a:ext cx="66080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3804345" y="812602"/>
            <a:ext cx="157460" cy="173206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45" name="Text 41"/>
          <p:cNvSpPr/>
          <p:nvPr/>
        </p:nvSpPr>
        <p:spPr>
          <a:xfrm>
            <a:off x="4004965" y="752326"/>
            <a:ext cx="1153260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Dual Indexing</a:t>
            </a:r>
            <a:endParaRPr lang="en-US" sz="730" dirty="0"/>
          </a:p>
        </p:txBody>
      </p:sp>
      <p:sp>
        <p:nvSpPr>
          <p:cNvPr id="46" name="Text 42"/>
          <p:cNvSpPr/>
          <p:nvPr/>
        </p:nvSpPr>
        <p:spPr>
          <a:xfrm>
            <a:off x="5192762" y="826591"/>
            <a:ext cx="66319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PIPELINE.PY</a:t>
            </a:r>
            <a:endParaRPr lang="en-US" sz="680" dirty="0"/>
          </a:p>
        </p:txBody>
      </p:sp>
      <p:sp>
        <p:nvSpPr>
          <p:cNvPr id="47" name="Text 43"/>
          <p:cNvSpPr/>
          <p:nvPr/>
        </p:nvSpPr>
        <p:spPr>
          <a:xfrm>
            <a:off x="3391495" y="1169343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i="1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Dense vector + sparse BM25 index</a:t>
            </a:r>
            <a:endParaRPr lang="en-US" sz="730" dirty="0"/>
          </a:p>
        </p:txBody>
      </p:sp>
      <p:sp>
        <p:nvSpPr>
          <p:cNvPr id="48" name="Text 44"/>
          <p:cNvSpPr/>
          <p:nvPr/>
        </p:nvSpPr>
        <p:spPr>
          <a:xfrm>
            <a:off x="3391495" y="1340793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49" name="Text 45"/>
          <p:cNvSpPr/>
          <p:nvPr/>
        </p:nvSpPr>
        <p:spPr>
          <a:xfrm>
            <a:off x="3391495" y="1498402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50" name="Text 46"/>
          <p:cNvSpPr/>
          <p:nvPr/>
        </p:nvSpPr>
        <p:spPr>
          <a:xfrm>
            <a:off x="3391495" y="1699171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vector_store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51" name="Text 47"/>
          <p:cNvSpPr/>
          <p:nvPr/>
        </p:nvSpPr>
        <p:spPr>
          <a:xfrm>
            <a:off x="3391495" y="1856780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52" name="Text 48"/>
          <p:cNvSpPr/>
          <p:nvPr/>
        </p:nvSpPr>
        <p:spPr>
          <a:xfrm>
            <a:off x="3391495" y="2014389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30" dirty="0"/>
          </a:p>
        </p:txBody>
      </p:sp>
      <p:sp>
        <p:nvSpPr>
          <p:cNvPr id="53" name="Text 49"/>
          <p:cNvSpPr/>
          <p:nvPr/>
        </p:nvSpPr>
        <p:spPr>
          <a:xfrm>
            <a:off x="3391495" y="2215158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bm25_index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BM25Okapi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54" name="Text 50"/>
          <p:cNvSpPr/>
          <p:nvPr/>
        </p:nvSpPr>
        <p:spPr>
          <a:xfrm>
            <a:off x="3391495" y="2372767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55" name="Text 51"/>
          <p:cNvSpPr/>
          <p:nvPr/>
        </p:nvSpPr>
        <p:spPr>
          <a:xfrm>
            <a:off x="3391495" y="2530376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730" dirty="0"/>
          </a:p>
        </p:txBody>
      </p:sp>
      <p:sp>
        <p:nvSpPr>
          <p:cNvPr id="56" name="Text 52"/>
          <p:cNvSpPr/>
          <p:nvPr/>
        </p:nvSpPr>
        <p:spPr>
          <a:xfrm>
            <a:off x="3391495" y="2758976"/>
            <a:ext cx="2390180" cy="420023"/>
          </a:xfrm>
          <a:prstGeom prst="rect">
            <a:avLst/>
          </a:prstGeom>
          <a:solidFill>
            <a:srgbClr val="C084FC">
              <a:alpha val="7000"/>
            </a:srgbClr>
          </a:solidFill>
          <a:ln/>
        </p:spPr>
        <p:txBody>
          <a:bodyPr wrap="none" lIns="71120" tIns="57150" rIns="71120" bIns="5715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/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</a:t>
            </a:r>
            <a:pPr algn="l" indent="0" marL="0">
              <a:buNone/>
            </a:pPr>
            <a:r>
              <a:rPr lang="en-US" sz="68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Sentence-Transformer embeddings + BM25Okapi sparse index built in parallel</a:t>
            </a:r>
            <a:br/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endParaRPr lang="en-US" sz="680" dirty="0"/>
          </a:p>
        </p:txBody>
      </p:sp>
      <p:sp>
        <p:nvSpPr>
          <p:cNvPr id="57" name="Text 53"/>
          <p:cNvSpPr/>
          <p:nvPr/>
        </p:nvSpPr>
        <p:spPr>
          <a:xfrm>
            <a:off x="3391495" y="2758976"/>
            <a:ext cx="9525" cy="407789"/>
          </a:xfrm>
          <a:prstGeom prst="rect">
            <a:avLst/>
          </a:prstGeom>
          <a:solidFill>
            <a:srgbClr val="C084FC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6001941" y="699641"/>
            <a:ext cx="7590" cy="1914079"/>
          </a:xfrm>
          <a:prstGeom prst="rect">
            <a:avLst/>
          </a:prstGeom>
          <a:gradFill rotWithShape="1">
            <a:gsLst>
              <a:gs pos="0">
                <a:srgbClr val="4F8EF7">
                  <a:alpha val="30000"/>
                </a:srgbClr>
              </a:gs>
              <a:gs pos="100000">
                <a:srgbClr val="4F8EF7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9516" y="2611868"/>
            <a:ext cx="132588" cy="132588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6001941" y="2742605"/>
            <a:ext cx="7590" cy="1914227"/>
          </a:xfrm>
          <a:prstGeom prst="rect">
            <a:avLst/>
          </a:prstGeom>
          <a:gradFill rotWithShape="1">
            <a:gsLst>
              <a:gs pos="0">
                <a:srgbClr val="4F8EF7">
                  <a:alpha val="30000"/>
                </a:srgbClr>
              </a:gs>
              <a:gs pos="100000">
                <a:srgbClr val="4F8EF7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6106120" y="699641"/>
            <a:ext cx="2637830" cy="3957191"/>
          </a:xfrm>
          <a:prstGeom prst="roundRect">
            <a:avLst>
              <a:gd name="adj" fmla="val 2167"/>
            </a:avLst>
          </a:prstGeom>
          <a:solidFill>
            <a:srgbClr val="0A1520"/>
          </a:solidFill>
          <a:ln w="9525">
            <a:solidFill>
              <a:srgbClr val="4F8EF7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7"/>
          <p:cNvSpPr/>
          <p:nvPr/>
        </p:nvSpPr>
        <p:spPr>
          <a:xfrm>
            <a:off x="6115645" y="709166"/>
            <a:ext cx="2618780" cy="253305"/>
          </a:xfrm>
          <a:prstGeom prst="rect">
            <a:avLst/>
          </a:prstGeom>
          <a:solidFill>
            <a:srgbClr val="4F8EF7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6115645" y="952946"/>
            <a:ext cx="2618780" cy="9525"/>
          </a:xfrm>
          <a:prstGeom prst="rect">
            <a:avLst/>
          </a:prstGeom>
          <a:solidFill>
            <a:srgbClr val="4F8EF7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9"/>
          <p:cNvSpPr/>
          <p:nvPr/>
        </p:nvSpPr>
        <p:spPr>
          <a:xfrm>
            <a:off x="6215955" y="795486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6344096" y="795486"/>
            <a:ext cx="70991" cy="70991"/>
          </a:xfrm>
          <a:prstGeom prst="ellipse">
            <a:avLst/>
          </a:prstGeom>
          <a:solidFill>
            <a:srgbClr val="FFBD2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1"/>
          <p:cNvSpPr/>
          <p:nvPr/>
        </p:nvSpPr>
        <p:spPr>
          <a:xfrm>
            <a:off x="6472238" y="795486"/>
            <a:ext cx="70991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2"/>
          <p:cNvSpPr/>
          <p:nvPr/>
        </p:nvSpPr>
        <p:spPr>
          <a:xfrm>
            <a:off x="6657529" y="752326"/>
            <a:ext cx="157460" cy="173206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68" name="Text 63"/>
          <p:cNvSpPr/>
          <p:nvPr/>
        </p:nvSpPr>
        <p:spPr>
          <a:xfrm>
            <a:off x="6858149" y="761554"/>
            <a:ext cx="9960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Call</a:t>
            </a:r>
            <a:endParaRPr lang="en-US" sz="730" dirty="0"/>
          </a:p>
        </p:txBody>
      </p:sp>
      <p:sp>
        <p:nvSpPr>
          <p:cNvPr id="69" name="Text 64"/>
          <p:cNvSpPr/>
          <p:nvPr/>
        </p:nvSpPr>
        <p:spPr>
          <a:xfrm>
            <a:off x="8031212" y="766316"/>
            <a:ext cx="66319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PIPELINE.PY</a:t>
            </a:r>
            <a:endParaRPr lang="en-US" sz="680" dirty="0"/>
          </a:p>
        </p:txBody>
      </p:sp>
      <p:sp>
        <p:nvSpPr>
          <p:cNvPr id="70" name="Text 65"/>
          <p:cNvSpPr/>
          <p:nvPr/>
        </p:nvSpPr>
        <p:spPr>
          <a:xfrm>
            <a:off x="6229945" y="1048792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i="1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and invoke HybridRetriever</a:t>
            </a:r>
            <a:endParaRPr lang="en-US" sz="730" dirty="0"/>
          </a:p>
        </p:txBody>
      </p:sp>
      <p:sp>
        <p:nvSpPr>
          <p:cNvPr id="71" name="Text 66"/>
          <p:cNvSpPr/>
          <p:nvPr/>
        </p:nvSpPr>
        <p:spPr>
          <a:xfrm>
            <a:off x="6229945" y="1220242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hybrid_retriever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72" name="Text 67"/>
          <p:cNvSpPr/>
          <p:nvPr/>
        </p:nvSpPr>
        <p:spPr>
          <a:xfrm>
            <a:off x="6229945" y="1377851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HybridRetriever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73" name="Text 68"/>
          <p:cNvSpPr/>
          <p:nvPr/>
        </p:nvSpPr>
        <p:spPr>
          <a:xfrm>
            <a:off x="6229945" y="1592610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HybridRetriever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74" name="Text 69"/>
          <p:cNvSpPr/>
          <p:nvPr/>
        </p:nvSpPr>
        <p:spPr>
          <a:xfrm>
            <a:off x="6229945" y="1750219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vector_store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75" name="Text 70"/>
          <p:cNvSpPr/>
          <p:nvPr/>
        </p:nvSpPr>
        <p:spPr>
          <a:xfrm>
            <a:off x="6229945" y="1907828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bm25_index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76" name="Text 71"/>
          <p:cNvSpPr/>
          <p:nvPr/>
        </p:nvSpPr>
        <p:spPr>
          <a:xfrm>
            <a:off x="6229945" y="2065437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30" dirty="0"/>
          </a:p>
        </p:txBody>
      </p:sp>
      <p:sp>
        <p:nvSpPr>
          <p:cNvPr id="77" name="Text 72"/>
          <p:cNvSpPr/>
          <p:nvPr/>
        </p:nvSpPr>
        <p:spPr>
          <a:xfrm>
            <a:off x="6229945" y="2266206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78" name="Text 73"/>
          <p:cNvSpPr/>
          <p:nvPr/>
        </p:nvSpPr>
        <p:spPr>
          <a:xfrm>
            <a:off x="6229945" y="2423815"/>
            <a:ext cx="2629198" cy="157609"/>
          </a:xfrm>
          <a:prstGeom prst="rect">
            <a:avLst/>
          </a:prstGeom>
          <a:noFill/>
          <a:ln/>
        </p:spPr>
        <p:txBody>
          <a:bodyPr wrap="none" lIns="143510" tIns="0" rIns="0" bIns="0" rtlCol="0" anchor="t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C9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30" dirty="0"/>
          </a:p>
        </p:txBody>
      </p:sp>
      <p:sp>
        <p:nvSpPr>
          <p:cNvPr id="79" name="Text 74"/>
          <p:cNvSpPr/>
          <p:nvPr/>
        </p:nvSpPr>
        <p:spPr>
          <a:xfrm>
            <a:off x="6229945" y="2581424"/>
            <a:ext cx="2629198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41"/>
              </a:lnSpc>
              <a:buNone/>
            </a:pPr>
            <a:r>
              <a:rPr lang="en-US" sz="73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30" dirty="0"/>
          </a:p>
        </p:txBody>
      </p:sp>
      <p:sp>
        <p:nvSpPr>
          <p:cNvPr id="80" name="Text 75"/>
          <p:cNvSpPr/>
          <p:nvPr/>
        </p:nvSpPr>
        <p:spPr>
          <a:xfrm>
            <a:off x="6229945" y="2810024"/>
            <a:ext cx="2390180" cy="420023"/>
          </a:xfrm>
          <a:prstGeom prst="rect">
            <a:avLst/>
          </a:prstGeom>
          <a:solidFill>
            <a:srgbClr val="22D3EE">
              <a:alpha val="7000"/>
            </a:srgbClr>
          </a:solidFill>
          <a:ln/>
        </p:spPr>
        <p:txBody>
          <a:bodyPr wrap="none" lIns="71120" tIns="57150" rIns="71120" bIns="5715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/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</a:t>
            </a:r>
            <a:pPr algn="l" indent="0" marL="0">
              <a:buNone/>
            </a:pPr>
            <a:r>
              <a:rPr lang="en-US" sz="68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top-</a:t>
            </a:r>
            <a:pPr algn="l" indent="0" marL="0">
              <a:buNone/>
            </a:pPr>
            <a:r>
              <a:rPr lang="en-US" sz="68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fused passages via RRF + cross-encoder reranking</a:t>
            </a:r>
            <a:br/>
            <a:pPr algn="l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endParaRPr lang="en-US" sz="680" dirty="0"/>
          </a:p>
        </p:txBody>
      </p:sp>
      <p:sp>
        <p:nvSpPr>
          <p:cNvPr id="81" name="Text 76"/>
          <p:cNvSpPr/>
          <p:nvPr/>
        </p:nvSpPr>
        <p:spPr>
          <a:xfrm>
            <a:off x="6229945" y="2810024"/>
            <a:ext cx="9525" cy="407789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7"/>
          <p:cNvSpPr/>
          <p:nvPr/>
        </p:nvSpPr>
        <p:spPr>
          <a:xfrm>
            <a:off x="0" y="4771434"/>
            <a:ext cx="9144000" cy="372066"/>
          </a:xfrm>
          <a:prstGeom prst="rect">
            <a:avLst/>
          </a:prstGeom>
          <a:solidFill>
            <a:srgbClr val="0A121C">
              <a:alpha val="6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78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4F8EF7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505" y="4895859"/>
            <a:ext cx="132588" cy="132588"/>
          </a:xfrm>
          <a:prstGeom prst="rect">
            <a:avLst/>
          </a:prstGeom>
        </p:spPr>
      </p:pic>
      <p:sp>
        <p:nvSpPr>
          <p:cNvPr id="85" name="Text 79"/>
          <p:cNvSpPr/>
          <p:nvPr/>
        </p:nvSpPr>
        <p:spPr>
          <a:xfrm>
            <a:off x="618679" y="4892725"/>
            <a:ext cx="263198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concerns: ingest → index → retrieve</a:t>
            </a:r>
            <a:endParaRPr lang="en-US" sz="730" dirty="0"/>
          </a:p>
        </p:txBody>
      </p:sp>
      <p:sp>
        <p:nvSpPr>
          <p:cNvPr id="86" name="Text 80"/>
          <p:cNvSpPr/>
          <p:nvPr/>
        </p:nvSpPr>
        <p:spPr>
          <a:xfrm>
            <a:off x="5713512" y="4874121"/>
            <a:ext cx="887462" cy="193834"/>
          </a:xfrm>
          <a:prstGeom prst="roundRect">
            <a:avLst>
              <a:gd name="adj" fmla="val 15070"/>
            </a:avLst>
          </a:prstGeom>
          <a:solidFill>
            <a:srgbClr val="0F1928">
              <a:alpha val="80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chunk_size=512</a:t>
            </a:r>
            <a:endParaRPr lang="en-US" sz="680" dirty="0"/>
          </a:p>
        </p:txBody>
      </p:sp>
      <p:sp>
        <p:nvSpPr>
          <p:cNvPr id="87" name="Text 81"/>
          <p:cNvSpPr/>
          <p:nvPr/>
        </p:nvSpPr>
        <p:spPr>
          <a:xfrm>
            <a:off x="6687294" y="4874121"/>
            <a:ext cx="679847" cy="193834"/>
          </a:xfrm>
          <a:prstGeom prst="roundRect">
            <a:avLst>
              <a:gd name="adj" fmla="val 15070"/>
            </a:avLst>
          </a:prstGeom>
          <a:solidFill>
            <a:srgbClr val="0F1928">
              <a:alpha val="80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overlap=64</a:t>
            </a:r>
            <a:endParaRPr lang="en-US" sz="680" dirty="0"/>
          </a:p>
        </p:txBody>
      </p:sp>
      <p:sp>
        <p:nvSpPr>
          <p:cNvPr id="88" name="Text 82"/>
          <p:cNvSpPr/>
          <p:nvPr/>
        </p:nvSpPr>
        <p:spPr>
          <a:xfrm>
            <a:off x="7453461" y="4874121"/>
            <a:ext cx="524321" cy="193834"/>
          </a:xfrm>
          <a:prstGeom prst="roundRect">
            <a:avLst>
              <a:gd name="adj" fmla="val 15070"/>
            </a:avLst>
          </a:prstGeom>
          <a:solidFill>
            <a:srgbClr val="0F1928">
              <a:alpha val="80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top_k=5</a:t>
            </a:r>
            <a:endParaRPr lang="en-US" sz="680" dirty="0"/>
          </a:p>
        </p:txBody>
      </p:sp>
      <p:sp>
        <p:nvSpPr>
          <p:cNvPr id="89" name="Text 83"/>
          <p:cNvSpPr/>
          <p:nvPr/>
        </p:nvSpPr>
        <p:spPr>
          <a:xfrm>
            <a:off x="8064103" y="4874121"/>
            <a:ext cx="679847" cy="193834"/>
          </a:xfrm>
          <a:prstGeom prst="roundRect">
            <a:avLst>
              <a:gd name="adj" fmla="val 15070"/>
            </a:avLst>
          </a:prstGeom>
          <a:solidFill>
            <a:srgbClr val="0F1928">
              <a:alpha val="80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RRF fusion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571750" cy="257175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0280" y="3143250"/>
            <a:ext cx="2143720" cy="2000250"/>
          </a:xfrm>
          <a:prstGeom prst="ellipse">
            <a:avLst/>
          </a:prstGeom>
          <a:gradFill rotWithShape="1">
            <a:gsLst>
              <a:gs pos="0">
                <a:srgbClr val="A78BFA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682526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114300" y="0"/>
                </a:moveTo>
                <a:lnTo>
                  <a:pt x="2562520" y="0"/>
                </a:lnTo>
                <a:lnTo>
                  <a:pt x="2587206" y="2698"/>
                </a:lnTo>
                <a:lnTo>
                  <a:pt x="2597222" y="5395"/>
                </a:lnTo>
                <a:lnTo>
                  <a:pt x="2604763" y="8093"/>
                </a:lnTo>
                <a:lnTo>
                  <a:pt x="2610999" y="10790"/>
                </a:lnTo>
                <a:lnTo>
                  <a:pt x="2616384" y="13488"/>
                </a:lnTo>
                <a:lnTo>
                  <a:pt x="2621154" y="16185"/>
                </a:lnTo>
                <a:lnTo>
                  <a:pt x="2625449" y="18883"/>
                </a:lnTo>
                <a:lnTo>
                  <a:pt x="2629360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4D399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3589" y="682526"/>
            <a:ext cx="2676820" cy="21580"/>
          </a:xfrm>
          <a:custGeom>
            <a:avLst/>
            <a:gdLst/>
            <a:ahLst/>
            <a:cxnLst/>
            <a:rect l="l" t="t" r="r" b="b"/>
            <a:pathLst>
              <a:path w="2676820" h="21580">
                <a:moveTo>
                  <a:pt x="114300" y="0"/>
                </a:moveTo>
                <a:lnTo>
                  <a:pt x="2562520" y="0"/>
                </a:lnTo>
                <a:lnTo>
                  <a:pt x="2587206" y="2698"/>
                </a:lnTo>
                <a:lnTo>
                  <a:pt x="2597222" y="5395"/>
                </a:lnTo>
                <a:lnTo>
                  <a:pt x="2604763" y="8093"/>
                </a:lnTo>
                <a:lnTo>
                  <a:pt x="2610999" y="10790"/>
                </a:lnTo>
                <a:lnTo>
                  <a:pt x="2616384" y="13488"/>
                </a:lnTo>
                <a:lnTo>
                  <a:pt x="2621154" y="16185"/>
                </a:lnTo>
                <a:lnTo>
                  <a:pt x="2625449" y="18883"/>
                </a:lnTo>
                <a:lnTo>
                  <a:pt x="2629360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43114" y="2570411"/>
            <a:ext cx="2657770" cy="21580"/>
          </a:xfrm>
          <a:custGeom>
            <a:avLst/>
            <a:gdLst/>
            <a:ahLst/>
            <a:cxnLst/>
            <a:rect l="l" t="t" r="r" b="b"/>
            <a:pathLst>
              <a:path w="2657770" h="21580">
                <a:moveTo>
                  <a:pt x="114300" y="0"/>
                </a:moveTo>
                <a:lnTo>
                  <a:pt x="2543470" y="0"/>
                </a:lnTo>
                <a:lnTo>
                  <a:pt x="2568156" y="2698"/>
                </a:lnTo>
                <a:lnTo>
                  <a:pt x="2578172" y="5395"/>
                </a:lnTo>
                <a:lnTo>
                  <a:pt x="2585713" y="8093"/>
                </a:lnTo>
                <a:lnTo>
                  <a:pt x="2591949" y="10790"/>
                </a:lnTo>
                <a:lnTo>
                  <a:pt x="2597334" y="13488"/>
                </a:lnTo>
                <a:lnTo>
                  <a:pt x="2602104" y="16185"/>
                </a:lnTo>
                <a:lnTo>
                  <a:pt x="2606399" y="18883"/>
                </a:lnTo>
                <a:lnTo>
                  <a:pt x="2610310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A78BFA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288875"/>
            <a:ext cx="506724" cy="195411"/>
          </a:xfrm>
          <a:prstGeom prst="roundRect">
            <a:avLst>
              <a:gd name="adj" fmla="val 73440"/>
            </a:avLst>
          </a:prstGeom>
          <a:solidFill>
            <a:srgbClr val="4F8EF7">
              <a:alpha val="18000"/>
            </a:srgbClr>
          </a:solidFill>
          <a:ln w="9525">
            <a:solidFill>
              <a:srgbClr val="4F8EF7">
                <a:alpha val="45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algn="l" indent="0" marL="0">
              <a:buNone/>
            </a:pPr>
            <a:r>
              <a:rPr lang="en-US" sz="620" b="1" spc="136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1011138" y="257770"/>
            <a:ext cx="202911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spc="-2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Sample </a:t>
            </a:r>
            <a:pPr algn="l" indent="0" marL="0">
              <a:lnSpc>
                <a:spcPts val="2030"/>
              </a:lnSpc>
              <a:buNone/>
            </a:pPr>
            <a:r>
              <a:rPr lang="en-US" sz="2030" b="1" spc="-20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</a:t>
            </a:r>
            <a:endParaRPr lang="en-US" sz="2030" dirty="0"/>
          </a:p>
        </p:txBody>
      </p:sp>
      <p:sp>
        <p:nvSpPr>
          <p:cNvPr id="11" name="Text 9"/>
          <p:cNvSpPr/>
          <p:nvPr/>
        </p:nvSpPr>
        <p:spPr>
          <a:xfrm>
            <a:off x="3136106" y="382786"/>
            <a:ext cx="5375523" cy="7590"/>
          </a:xfrm>
          <a:prstGeom prst="rect">
            <a:avLst/>
          </a:prstGeom>
          <a:gradFill rotWithShape="1">
            <a:gsLst>
              <a:gs pos="0">
                <a:srgbClr val="4F8E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18646" y="320287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0050" y="673001"/>
            <a:ext cx="2695873" cy="4042321"/>
          </a:xfrm>
          <a:prstGeom prst="roundRect">
            <a:avLst>
              <a:gd name="adj" fmla="val 4240"/>
            </a:avLst>
          </a:prstGeom>
          <a:solidFill>
            <a:srgbClr val="1A2D45"/>
          </a:solidFill>
          <a:ln w="9525">
            <a:solidFill>
              <a:srgbClr val="34D399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37716" y="79682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722" y="844832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7307" y="852041"/>
            <a:ext cx="147961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OLLAMA FINAL:</a:t>
            </a:r>
            <a:endParaRPr lang="en-US" sz="620" dirty="0"/>
          </a:p>
        </p:txBody>
      </p:sp>
      <p:sp>
        <p:nvSpPr>
          <p:cNvPr id="17" name="Text 13"/>
          <p:cNvSpPr/>
          <p:nvPr/>
        </p:nvSpPr>
        <p:spPr>
          <a:xfrm>
            <a:off x="537716" y="1096417"/>
            <a:ext cx="2420541" cy="3243858"/>
          </a:xfrm>
          <a:prstGeom prst="roundRect">
            <a:avLst>
              <a:gd name="adj" fmla="val 2938"/>
            </a:avLst>
          </a:prstGeom>
          <a:solidFill>
            <a:srgbClr val="34D399">
              <a:alpha val="7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37716" y="1096417"/>
            <a:ext cx="19050" cy="3243858"/>
          </a:xfrm>
          <a:custGeom>
            <a:avLst/>
            <a:gdLst/>
            <a:ahLst/>
            <a:cxnLst/>
            <a:rect l="l" t="t" r="r" b="b"/>
            <a:pathLst>
              <a:path w="19050" h="3243858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3221181"/>
                </a:lnTo>
                <a:lnTo>
                  <a:pt x="16669" y="3218488"/>
                </a:lnTo>
                <a:lnTo>
                  <a:pt x="14288" y="3215494"/>
                </a:lnTo>
                <a:lnTo>
                  <a:pt x="11906" y="3212131"/>
                </a:lnTo>
                <a:lnTo>
                  <a:pt x="9525" y="3208292"/>
                </a:lnTo>
                <a:lnTo>
                  <a:pt x="7144" y="3203804"/>
                </a:lnTo>
                <a:lnTo>
                  <a:pt x="4763" y="3198326"/>
                </a:lnTo>
                <a:lnTo>
                  <a:pt x="2381" y="3190987"/>
                </a:lnTo>
                <a:lnTo>
                  <a:pt x="0" y="3172738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63327" y="2375743"/>
            <a:ext cx="233136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dirty="0">
                <a:solidFill>
                  <a:srgbClr val="34D399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30" dirty="0"/>
          </a:p>
        </p:txBody>
      </p:sp>
      <p:sp>
        <p:nvSpPr>
          <p:cNvPr id="20" name="Text 16"/>
          <p:cNvSpPr/>
          <p:nvPr/>
        </p:nvSpPr>
        <p:spPr>
          <a:xfrm>
            <a:off x="663327" y="2576364"/>
            <a:ext cx="222242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My name is LLaMA, I am a large language model trained by a team of researchers at Meta AI. It is nice to meet you!</a:t>
            </a:r>
            <a:endParaRPr lang="en-US" sz="820" dirty="0"/>
          </a:p>
        </p:txBody>
      </p:sp>
      <p:sp>
        <p:nvSpPr>
          <p:cNvPr id="21" name="Text 17"/>
          <p:cNvSpPr/>
          <p:nvPr/>
        </p:nvSpPr>
        <p:spPr>
          <a:xfrm>
            <a:off x="537716" y="4411266"/>
            <a:ext cx="1748638" cy="180231"/>
          </a:xfrm>
          <a:prstGeom prst="roundRect">
            <a:avLst>
              <a:gd name="adj" fmla="val 79626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none" lIns="167580" tIns="21590" rIns="71120" bIns="21590" rtlCol="0" anchor="ctr"/>
          <a:lstStyle/>
          <a:p>
            <a:pPr algn="l" indent="0" marL="0">
              <a:buNone/>
            </a:pPr>
            <a:r>
              <a:rPr lang="en-US" sz="620" b="1" spc="31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route confirmed · llama2</a:t>
            </a:r>
            <a:endParaRPr lang="en-US" sz="62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8578" y="4435013"/>
            <a:ext cx="132588" cy="132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24064" y="673001"/>
            <a:ext cx="2695873" cy="4042321"/>
          </a:xfrm>
          <a:prstGeom prst="roundRect">
            <a:avLst>
              <a:gd name="adj" fmla="val 4240"/>
            </a:avLst>
          </a:prstGeom>
          <a:solidFill>
            <a:srgbClr val="1A2D45"/>
          </a:solidFill>
          <a:ln w="9525">
            <a:solidFill>
              <a:srgbClr val="FBBF24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3361730" y="79682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BBF24">
              <a:alpha val="1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9736" y="844832"/>
            <a:ext cx="132588" cy="132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61321" y="852041"/>
            <a:ext cx="20183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JSON FRAMES (EXCERPT):</a:t>
            </a:r>
            <a:endParaRPr lang="en-US" sz="620" dirty="0"/>
          </a:p>
        </p:txBody>
      </p:sp>
      <p:sp>
        <p:nvSpPr>
          <p:cNvPr id="27" name="Text 21"/>
          <p:cNvSpPr/>
          <p:nvPr/>
        </p:nvSpPr>
        <p:spPr>
          <a:xfrm>
            <a:off x="3361730" y="1096417"/>
            <a:ext cx="2420541" cy="1390674"/>
          </a:xfrm>
          <a:prstGeom prst="roundRect">
            <a:avLst>
              <a:gd name="adj" fmla="val 5114"/>
            </a:avLst>
          </a:prstGeom>
          <a:solidFill>
            <a:srgbClr val="0A1520"/>
          </a:solidFill>
          <a:ln w="9525">
            <a:solidFill>
              <a:srgbClr val="FBBF24">
                <a:alpha val="18000"/>
              </a:srgbClr>
            </a:solidFill>
          </a:ln>
        </p:spPr>
        <p:txBody>
          <a:bodyPr wrap="square" lIns="100330" tIns="86360" rIns="100330" bIns="8636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"llama2"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"response"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"llama2"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"response"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"llama2"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"response"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My"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"llama2"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"response"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name"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"llama2"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6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"response"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6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is"</a:t>
            </a:r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br/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50" dirty="0"/>
          </a:p>
          <a:p>
            <a:pPr algn="l" indent="0" marL="0">
              <a:buNone/>
            </a:pPr>
            <a:r>
              <a:rPr lang="en-US" sz="650" i="1" dirty="0">
                <a:solidFill>
                  <a:srgbClr val="4A6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50" i="1" dirty="0">
                <a:solidFill>
                  <a:srgbClr val="4A6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650" i="1" dirty="0">
                <a:solidFill>
                  <a:srgbClr val="4A6580"/>
                </a:solidFill>
                <a:highlight>
                  <a:srgbClr val="FBBF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pPr algn="l" indent="0" marL="0">
              <a:buNone/>
            </a:pPr>
            <a:r>
              <a:rPr lang="en-US" sz="650" i="1" dirty="0">
                <a:solidFill>
                  <a:srgbClr val="4A6580"/>
                </a:solidFill>
                <a:highlight>
                  <a:srgbClr val="FBBF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Parsed: </a:t>
            </a:r>
            <a:pPr algn="l" indent="0" marL="0">
              <a:buNone/>
            </a:pPr>
            <a:r>
              <a:rPr lang="en-US" sz="650" i="1" dirty="0">
                <a:solidFill>
                  <a:srgbClr val="4A6580"/>
                </a:solidFill>
                <a:highlight>
                  <a:srgbClr val="FBBF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stream=True</a:t>
            </a:r>
            <a:pPr algn="l" indent="0" marL="0">
              <a:buNone/>
            </a:pPr>
            <a:r>
              <a:rPr lang="en-US" sz="650" i="1" dirty="0">
                <a:solidFill>
                  <a:srgbClr val="4A6580"/>
                </a:solidFill>
                <a:highlight>
                  <a:srgbClr val="FBBF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|  JSON lines → token append → final string</a:t>
            </a:r>
            <a:br/>
            <a:pPr algn="l" indent="0" marL="0">
              <a:buNone/>
            </a:pPr>
            <a:r>
              <a:rPr lang="en-US" sz="650" i="1" dirty="0">
                <a:solidFill>
                  <a:srgbClr val="4A6580"/>
                </a:solidFill>
                <a:highlight>
                  <a:srgbClr val="FBBF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3233589" y="2560886"/>
            <a:ext cx="2676823" cy="2144911"/>
          </a:xfrm>
          <a:prstGeom prst="roundRect">
            <a:avLst>
              <a:gd name="adj" fmla="val 5329"/>
            </a:avLst>
          </a:prstGeom>
          <a:solidFill>
            <a:srgbClr val="1A2D45"/>
          </a:solidFill>
          <a:ln w="9525">
            <a:solidFill>
              <a:srgbClr val="A78BFA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3371255" y="268471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9261" y="2732717"/>
            <a:ext cx="132588" cy="1325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70846" y="2739926"/>
            <a:ext cx="126057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APP.PY</a:t>
            </a:r>
            <a:endParaRPr lang="en-US" sz="620" dirty="0"/>
          </a:p>
        </p:txBody>
      </p:sp>
      <p:sp>
        <p:nvSpPr>
          <p:cNvPr id="32" name="Text 25"/>
          <p:cNvSpPr/>
          <p:nvPr/>
        </p:nvSpPr>
        <p:spPr>
          <a:xfrm>
            <a:off x="3371255" y="2984302"/>
            <a:ext cx="2401491" cy="1597670"/>
          </a:xfrm>
          <a:prstGeom prst="roundRect">
            <a:avLst>
              <a:gd name="adj" fmla="val 4451"/>
            </a:avLst>
          </a:prstGeom>
          <a:solidFill>
            <a:srgbClr val="0A1520"/>
          </a:solidFill>
          <a:ln w="9525">
            <a:solidFill>
              <a:srgbClr val="A78BFA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380780" y="2993827"/>
            <a:ext cx="2382441" cy="226368"/>
          </a:xfrm>
          <a:prstGeom prst="rect">
            <a:avLst/>
          </a:prstGeom>
          <a:solidFill>
            <a:srgbClr val="1A2D45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3380780" y="3210669"/>
            <a:ext cx="2382441" cy="9525"/>
          </a:xfrm>
          <a:prstGeom prst="rect">
            <a:avLst/>
          </a:prstGeom>
          <a:solidFill>
            <a:srgbClr val="A78BFA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3467100" y="3073598"/>
            <a:ext cx="57150" cy="5715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3567410" y="3073598"/>
            <a:ext cx="57150" cy="57150"/>
          </a:xfrm>
          <a:prstGeom prst="ellipse">
            <a:avLst/>
          </a:prstGeom>
          <a:solidFill>
            <a:srgbClr val="FBBF2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3667720" y="3073598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3811191" y="3043238"/>
            <a:ext cx="166526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localhost:8501 · RAG Phone Q&amp;A</a:t>
            </a:r>
            <a:endParaRPr lang="en-US" sz="620" dirty="0"/>
          </a:p>
        </p:txBody>
      </p:sp>
      <p:sp>
        <p:nvSpPr>
          <p:cNvPr id="39" name="Text 32"/>
          <p:cNvSpPr/>
          <p:nvPr/>
        </p:nvSpPr>
        <p:spPr>
          <a:xfrm>
            <a:off x="3572024" y="3291185"/>
            <a:ext cx="1935965" cy="225028"/>
          </a:xfrm>
          <a:prstGeom prst="roundRect">
            <a:avLst>
              <a:gd name="adj" fmla="val 31605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>
                <a:alpha val="20000"/>
              </a:srgbClr>
            </a:solidFill>
          </a:ln>
        </p:spPr>
        <p:txBody>
          <a:bodyPr wrap="none" lIns="71120" tIns="43180" rIns="71120" bIns="4318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battery capacity of the Galaxy S24?</a:t>
            </a:r>
            <a:endParaRPr lang="en-US" sz="650" dirty="0"/>
          </a:p>
        </p:txBody>
      </p:sp>
      <p:sp>
        <p:nvSpPr>
          <p:cNvPr id="40" name="Text 33"/>
          <p:cNvSpPr/>
          <p:nvPr/>
        </p:nvSpPr>
        <p:spPr>
          <a:xfrm>
            <a:off x="5519440" y="3291185"/>
            <a:ext cx="157460" cy="173206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560" dirty="0"/>
          </a:p>
        </p:txBody>
      </p:sp>
      <p:sp>
        <p:nvSpPr>
          <p:cNvPr id="41" name="Text 34"/>
          <p:cNvSpPr/>
          <p:nvPr/>
        </p:nvSpPr>
        <p:spPr>
          <a:xfrm>
            <a:off x="3467100" y="3565624"/>
            <a:ext cx="2209800" cy="184100"/>
          </a:xfrm>
          <a:prstGeom prst="roundRect">
            <a:avLst>
              <a:gd name="adj" fmla="val 23455"/>
            </a:avLst>
          </a:prstGeom>
          <a:solidFill>
            <a:srgbClr val="A78BFA">
              <a:alpha val="7000"/>
            </a:srgbClr>
          </a:solidFill>
          <a:ln w="9525">
            <a:solidFill>
              <a:srgbClr val="A78BFA">
                <a:alpha val="1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533775" y="3604320"/>
            <a:ext cx="28960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56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91740" y="3591306"/>
            <a:ext cx="132588" cy="1325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840212" y="3604320"/>
            <a:ext cx="7809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A78BFA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60" dirty="0"/>
          </a:p>
        </p:txBody>
      </p:sp>
      <p:sp>
        <p:nvSpPr>
          <p:cNvPr id="45" name="Text 37"/>
          <p:cNvSpPr/>
          <p:nvPr/>
        </p:nvSpPr>
        <p:spPr>
          <a:xfrm>
            <a:off x="3954363" y="3604320"/>
            <a:ext cx="4806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56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12328" y="3591306"/>
            <a:ext cx="132588" cy="13258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434483" y="3604320"/>
            <a:ext cx="7809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A78BFA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60" dirty="0"/>
          </a:p>
        </p:txBody>
      </p:sp>
      <p:sp>
        <p:nvSpPr>
          <p:cNvPr id="48" name="Text 39"/>
          <p:cNvSpPr/>
          <p:nvPr/>
        </p:nvSpPr>
        <p:spPr>
          <a:xfrm>
            <a:off x="4548634" y="3604320"/>
            <a:ext cx="33724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56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06599" y="3591306"/>
            <a:ext cx="132588" cy="13258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4898380" y="3604320"/>
            <a:ext cx="7809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A78BFA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60" dirty="0"/>
          </a:p>
        </p:txBody>
      </p:sp>
      <p:sp>
        <p:nvSpPr>
          <p:cNvPr id="51" name="Text 41"/>
          <p:cNvSpPr/>
          <p:nvPr/>
        </p:nvSpPr>
        <p:spPr>
          <a:xfrm>
            <a:off x="5012531" y="3604320"/>
            <a:ext cx="23738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56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70496" y="3591306"/>
            <a:ext cx="132588" cy="13258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3467100" y="3799136"/>
            <a:ext cx="157460" cy="157460"/>
          </a:xfrm>
          <a:prstGeom prst="ellipse">
            <a:avLst/>
          </a:prstGeom>
          <a:solidFill>
            <a:srgbClr val="4F8EF7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479462" y="3811497"/>
            <a:ext cx="132588" cy="13258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3673971" y="3799136"/>
            <a:ext cx="1964353" cy="225028"/>
          </a:xfrm>
          <a:prstGeom prst="roundRect">
            <a:avLst>
              <a:gd name="adj" fmla="val 31605"/>
            </a:avLst>
          </a:prstGeom>
          <a:solidFill>
            <a:srgbClr val="4F8EF7">
              <a:alpha val="8000"/>
            </a:srgbClr>
          </a:solidFill>
          <a:ln w="9525">
            <a:solidFill>
              <a:srgbClr val="4F8EF7">
                <a:alpha val="18000"/>
              </a:srgbClr>
            </a:solidFill>
          </a:ln>
        </p:spPr>
        <p:txBody>
          <a:bodyPr wrap="none" lIns="71120" tIns="43180" rIns="71120" bIns="4318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Galaxy S24 features a 4000 mAh battery…</a:t>
            </a:r>
            <a:endParaRPr lang="en-US" sz="650" dirty="0"/>
          </a:p>
        </p:txBody>
      </p:sp>
      <p:sp>
        <p:nvSpPr>
          <p:cNvPr id="56" name="Text 44"/>
          <p:cNvSpPr/>
          <p:nvPr/>
        </p:nvSpPr>
        <p:spPr>
          <a:xfrm>
            <a:off x="3467100" y="4102745"/>
            <a:ext cx="243078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85"/>
              </a:lnSpc>
              <a:buNone/>
            </a:pPr>
            <a:r>
              <a:rPr lang="en-US" sz="59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</a:t>
            </a:r>
            <a:pPr algn="l" indent="0" marL="0">
              <a:lnSpc>
                <a:spcPts val="885"/>
              </a:lnSpc>
              <a:buNone/>
            </a:pPr>
            <a:r>
              <a:rPr lang="en-US" sz="59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streaming via Ollama REST · stream=True</a:t>
            </a:r>
            <a:endParaRPr lang="en-US" sz="590" dirty="0"/>
          </a:p>
        </p:txBody>
      </p:sp>
      <p:sp>
        <p:nvSpPr>
          <p:cNvPr id="57" name="Text 45"/>
          <p:cNvSpPr/>
          <p:nvPr/>
        </p:nvSpPr>
        <p:spPr>
          <a:xfrm>
            <a:off x="3467100" y="4293543"/>
            <a:ext cx="1779303" cy="207913"/>
          </a:xfrm>
          <a:prstGeom prst="roundRect">
            <a:avLst>
              <a:gd name="adj" fmla="val 2076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71120" tIns="35560" rIns="71120" bIns="35560" rtlCol="0" anchor="t"/>
          <a:lstStyle/>
          <a:p>
            <a:pPr algn="l" indent="0" marL="0">
              <a:buNone/>
            </a:pPr>
            <a:r>
              <a:rPr lang="en-US" sz="62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your phone…</a:t>
            </a:r>
            <a:endParaRPr lang="en-US" sz="620" dirty="0"/>
          </a:p>
        </p:txBody>
      </p:sp>
      <p:sp>
        <p:nvSpPr>
          <p:cNvPr id="58" name="Text 46"/>
          <p:cNvSpPr/>
          <p:nvPr/>
        </p:nvSpPr>
        <p:spPr>
          <a:xfrm>
            <a:off x="5254675" y="4303068"/>
            <a:ext cx="430670" cy="188863"/>
          </a:xfrm>
          <a:prstGeom prst="roundRect">
            <a:avLst>
              <a:gd name="adj" fmla="val 22863"/>
            </a:avLst>
          </a:prstGeom>
          <a:solidFill>
            <a:srgbClr val="4F8EF7"/>
          </a:solidFill>
          <a:ln/>
        </p:spPr>
        <p:txBody>
          <a:bodyPr wrap="none" lIns="159266" tIns="35560" rIns="71120" bIns="35560" rtlCol="0" anchor="ctr"/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620" dirty="0"/>
          </a:p>
        </p:txBody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288840" y="4331131"/>
            <a:ext cx="132588" cy="132588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0" y="4729311"/>
            <a:ext cx="914400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48"/>
          <p:cNvSpPr/>
          <p:nvPr/>
        </p:nvSpPr>
        <p:spPr>
          <a:xfrm>
            <a:off x="400050" y="4782294"/>
            <a:ext cx="176840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3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Phone Project · D · June 11, 2026</a:t>
            </a:r>
            <a:endParaRPr lang="en-US" sz="620" dirty="0"/>
          </a:p>
        </p:txBody>
      </p:sp>
      <p:sp>
        <p:nvSpPr>
          <p:cNvPr id="62" name="Text 49"/>
          <p:cNvSpPr/>
          <p:nvPr/>
        </p:nvSpPr>
        <p:spPr>
          <a:xfrm>
            <a:off x="7331869" y="4782294"/>
            <a:ext cx="155328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3A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Ollama integration verified ✓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17587"/>
            <a:ext cx="193328" cy="193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8669" y="153293"/>
            <a:ext cx="2964525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690" spc="-17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Installation &amp; Run Instructions</a:t>
            </a:r>
            <a:endParaRPr lang="en-US" sz="1690" dirty="0"/>
          </a:p>
        </p:txBody>
      </p:sp>
      <p:sp>
        <p:nvSpPr>
          <p:cNvPr id="5" name="Text 2"/>
          <p:cNvSpPr/>
          <p:nvPr/>
        </p:nvSpPr>
        <p:spPr>
          <a:xfrm>
            <a:off x="8052197" y="218480"/>
            <a:ext cx="634603" cy="210860"/>
          </a:xfrm>
          <a:prstGeom prst="roundRect">
            <a:avLst>
              <a:gd name="adj" fmla="val 68060"/>
            </a:avLst>
          </a:prstGeom>
          <a:solidFill>
            <a:srgbClr val="4F8EF7">
              <a:alpha val="18000"/>
            </a:srgbClr>
          </a:solidFill>
          <a:ln w="9525">
            <a:solidFill>
              <a:srgbClr val="4F8EF7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471041" y="756791"/>
            <a:ext cx="50015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58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 SETUP</a:t>
            </a:r>
            <a:endParaRPr lang="en-US" sz="730" dirty="0"/>
          </a:p>
        </p:txBody>
      </p:sp>
      <p:sp>
        <p:nvSpPr>
          <p:cNvPr id="7" name="Text 4"/>
          <p:cNvSpPr/>
          <p:nvPr/>
        </p:nvSpPr>
        <p:spPr>
          <a:xfrm>
            <a:off x="457200" y="938957"/>
            <a:ext cx="4560689" cy="305842"/>
          </a:xfrm>
          <a:prstGeom prst="roundRect">
            <a:avLst>
              <a:gd name="adj" fmla="val 18686"/>
            </a:avLst>
          </a:prstGeom>
          <a:solidFill>
            <a:srgbClr val="FFFFFF"/>
          </a:solidFill>
          <a:ln w="9525">
            <a:solidFill>
              <a:srgbClr val="DCE6F7"/>
            </a:solidFill>
          </a:ln>
          <a:effectLst>
            <a:outerShdw sx="100000" sy="100000" kx="0" ky="0" algn="bl" rotWithShape="0" blurRad="29210" dist="762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37716" y="999232"/>
            <a:ext cx="185291" cy="203820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793998" y="1016645"/>
            <a:ext cx="13353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Navigate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2078980" y="997893"/>
            <a:ext cx="2829074" cy="206767"/>
          </a:xfrm>
          <a:prstGeom prst="roundRect">
            <a:avLst>
              <a:gd name="adj" fmla="val 17198"/>
            </a:avLst>
          </a:prstGeom>
          <a:solidFill>
            <a:srgbClr val="1A2D4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C:\Users\malha\Documents\rag_phone_project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457200" y="1294209"/>
            <a:ext cx="4560689" cy="305842"/>
          </a:xfrm>
          <a:prstGeom prst="roundRect">
            <a:avLst>
              <a:gd name="adj" fmla="val 18686"/>
            </a:avLst>
          </a:prstGeom>
          <a:solidFill>
            <a:srgbClr val="FFFFFF"/>
          </a:solidFill>
          <a:ln w="9525">
            <a:solidFill>
              <a:srgbClr val="DCE6F7"/>
            </a:solidFill>
          </a:ln>
          <a:effectLst>
            <a:outerShdw sx="100000" sy="100000" kx="0" ky="0" algn="bl" rotWithShape="0" blurRad="29210" dist="762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37716" y="1354485"/>
            <a:ext cx="185291" cy="203820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793998" y="1371898"/>
            <a:ext cx="13353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venv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2078980" y="1353145"/>
            <a:ext cx="2829074" cy="206767"/>
          </a:xfrm>
          <a:prstGeom prst="roundRect">
            <a:avLst>
              <a:gd name="adj" fmla="val 17198"/>
            </a:avLst>
          </a:prstGeom>
          <a:solidFill>
            <a:srgbClr val="1A2D4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457200" y="1649462"/>
            <a:ext cx="4560689" cy="305842"/>
          </a:xfrm>
          <a:prstGeom prst="roundRect">
            <a:avLst>
              <a:gd name="adj" fmla="val 18686"/>
            </a:avLst>
          </a:prstGeom>
          <a:solidFill>
            <a:srgbClr val="FFFFFF"/>
          </a:solidFill>
          <a:ln w="9525">
            <a:solidFill>
              <a:srgbClr val="DCE6F7"/>
            </a:solidFill>
          </a:ln>
          <a:effectLst>
            <a:outerShdw sx="100000" sy="100000" kx="0" ky="0" algn="bl" rotWithShape="0" blurRad="29210" dist="762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7716" y="1709738"/>
            <a:ext cx="185291" cy="203820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793998" y="1727150"/>
            <a:ext cx="13353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venv (Windows)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2078980" y="1708398"/>
            <a:ext cx="2829074" cy="206767"/>
          </a:xfrm>
          <a:prstGeom prst="roundRect">
            <a:avLst>
              <a:gd name="adj" fmla="val 17198"/>
            </a:avLst>
          </a:prstGeom>
          <a:solidFill>
            <a:srgbClr val="1A2D4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457200" y="2004715"/>
            <a:ext cx="4560689" cy="305842"/>
          </a:xfrm>
          <a:prstGeom prst="roundRect">
            <a:avLst>
              <a:gd name="adj" fmla="val 18686"/>
            </a:avLst>
          </a:prstGeom>
          <a:solidFill>
            <a:srgbClr val="FFFFFF"/>
          </a:solidFill>
          <a:ln w="9525">
            <a:solidFill>
              <a:srgbClr val="DCE6F7"/>
            </a:solidFill>
          </a:ln>
          <a:effectLst>
            <a:outerShdw sx="100000" sy="100000" kx="0" ky="0" algn="bl" rotWithShape="0" blurRad="29210" dist="762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7716" y="2064990"/>
            <a:ext cx="185291" cy="203820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793998" y="2082403"/>
            <a:ext cx="13353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2078980" y="2063651"/>
            <a:ext cx="2829074" cy="206767"/>
          </a:xfrm>
          <a:prstGeom prst="roundRect">
            <a:avLst>
              <a:gd name="adj" fmla="val 17198"/>
            </a:avLst>
          </a:prstGeom>
          <a:solidFill>
            <a:srgbClr val="1A2D4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457200" y="2359968"/>
            <a:ext cx="4560689" cy="305842"/>
          </a:xfrm>
          <a:prstGeom prst="roundRect">
            <a:avLst>
              <a:gd name="adj" fmla="val 18686"/>
            </a:avLst>
          </a:prstGeom>
          <a:solidFill>
            <a:srgbClr val="FFFFFF"/>
          </a:solidFill>
          <a:ln w="9525">
            <a:solidFill>
              <a:srgbClr val="DCE6F7"/>
            </a:solidFill>
          </a:ln>
          <a:effectLst>
            <a:outerShdw sx="100000" sy="100000" kx="0" ky="0" algn="bl" rotWithShape="0" blurRad="29210" dist="762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37716" y="2420243"/>
            <a:ext cx="185291" cy="203820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793998" y="2437656"/>
            <a:ext cx="13353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installs (if missing)</a:t>
            </a:r>
            <a:endParaRPr lang="en-US" sz="790" dirty="0"/>
          </a:p>
        </p:txBody>
      </p:sp>
      <p:sp>
        <p:nvSpPr>
          <p:cNvPr id="26" name="Text 23"/>
          <p:cNvSpPr/>
          <p:nvPr/>
        </p:nvSpPr>
        <p:spPr>
          <a:xfrm>
            <a:off x="2078980" y="2418904"/>
            <a:ext cx="2829074" cy="206767"/>
          </a:xfrm>
          <a:prstGeom prst="roundRect">
            <a:avLst>
              <a:gd name="adj" fmla="val 17198"/>
            </a:avLst>
          </a:prstGeom>
          <a:solidFill>
            <a:srgbClr val="1A2D4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 numpy</a:t>
            </a: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5246489" y="928241"/>
            <a:ext cx="7590" cy="1737568"/>
          </a:xfrm>
          <a:prstGeom prst="rect">
            <a:avLst/>
          </a:prstGeom>
          <a:solidFill>
            <a:srgbClr val="DCE6F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496520" y="756791"/>
            <a:ext cx="350930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spc="58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&amp; ACCESS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5482679" y="938957"/>
            <a:ext cx="3204121" cy="305842"/>
          </a:xfrm>
          <a:prstGeom prst="roundRect">
            <a:avLst>
              <a:gd name="adj" fmla="val 18686"/>
            </a:avLst>
          </a:prstGeom>
          <a:solidFill>
            <a:srgbClr val="FFFFFF"/>
          </a:solidFill>
          <a:ln w="9525">
            <a:solidFill>
              <a:srgbClr val="DCE6F7"/>
            </a:solidFill>
          </a:ln>
          <a:effectLst>
            <a:outerShdw sx="100000" sy="100000" kx="0" ky="0" algn="bl" rotWithShape="0" blurRad="29210" dist="762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563195" y="999232"/>
            <a:ext cx="185291" cy="203820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5819477" y="1016645"/>
            <a:ext cx="13353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Ollama (local LLM)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7104459" y="997893"/>
            <a:ext cx="1472505" cy="206767"/>
          </a:xfrm>
          <a:prstGeom prst="roundRect">
            <a:avLst>
              <a:gd name="adj" fmla="val 17198"/>
            </a:avLst>
          </a:prstGeom>
          <a:solidFill>
            <a:srgbClr val="1A2D4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llama2</a:t>
            </a:r>
            <a:endParaRPr lang="en-US" sz="760" dirty="0"/>
          </a:p>
        </p:txBody>
      </p:sp>
      <p:sp>
        <p:nvSpPr>
          <p:cNvPr id="33" name="Text 30"/>
          <p:cNvSpPr/>
          <p:nvPr/>
        </p:nvSpPr>
        <p:spPr>
          <a:xfrm>
            <a:off x="5482679" y="1294209"/>
            <a:ext cx="3204121" cy="305842"/>
          </a:xfrm>
          <a:prstGeom prst="roundRect">
            <a:avLst>
              <a:gd name="adj" fmla="val 18686"/>
            </a:avLst>
          </a:prstGeom>
          <a:solidFill>
            <a:srgbClr val="FFFFFF"/>
          </a:solidFill>
          <a:ln w="9525">
            <a:solidFill>
              <a:srgbClr val="DCE6F7"/>
            </a:solidFill>
          </a:ln>
          <a:effectLst>
            <a:outerShdw sx="100000" sy="100000" kx="0" ky="0" algn="bl" rotWithShape="0" blurRad="29210" dist="762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563195" y="1354485"/>
            <a:ext cx="185291" cy="203820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30" dirty="0"/>
          </a:p>
        </p:txBody>
      </p:sp>
      <p:sp>
        <p:nvSpPr>
          <p:cNvPr id="35" name="Text 32"/>
          <p:cNvSpPr/>
          <p:nvPr/>
        </p:nvSpPr>
        <p:spPr>
          <a:xfrm>
            <a:off x="5819477" y="1371898"/>
            <a:ext cx="13353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Streamlit app</a:t>
            </a:r>
            <a:endParaRPr lang="en-US" sz="790" dirty="0"/>
          </a:p>
        </p:txBody>
      </p:sp>
      <p:sp>
        <p:nvSpPr>
          <p:cNvPr id="36" name="Text 33"/>
          <p:cNvSpPr/>
          <p:nvPr/>
        </p:nvSpPr>
        <p:spPr>
          <a:xfrm>
            <a:off x="7104459" y="1353145"/>
            <a:ext cx="1472505" cy="206767"/>
          </a:xfrm>
          <a:prstGeom prst="roundRect">
            <a:avLst>
              <a:gd name="adj" fmla="val 17198"/>
            </a:avLst>
          </a:prstGeom>
          <a:solidFill>
            <a:srgbClr val="1A2D4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5482679" y="1649462"/>
            <a:ext cx="3204121" cy="305842"/>
          </a:xfrm>
          <a:prstGeom prst="roundRect">
            <a:avLst>
              <a:gd name="adj" fmla="val 18686"/>
            </a:avLst>
          </a:prstGeom>
          <a:solidFill>
            <a:srgbClr val="FFFFFF"/>
          </a:solidFill>
          <a:ln w="9525">
            <a:solidFill>
              <a:srgbClr val="DCE6F7"/>
            </a:solidFill>
          </a:ln>
          <a:effectLst>
            <a:outerShdw sx="100000" sy="100000" kx="0" ky="0" algn="bl" rotWithShape="0" blurRad="29210" dist="7620" dir="5400000">
              <a:srgbClr val="0d1b2a">
                <a:alpha val="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563195" y="1709738"/>
            <a:ext cx="185291" cy="203820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30" dirty="0"/>
          </a:p>
        </p:txBody>
      </p:sp>
      <p:sp>
        <p:nvSpPr>
          <p:cNvPr id="39" name="Text 36"/>
          <p:cNvSpPr/>
          <p:nvPr/>
        </p:nvSpPr>
        <p:spPr>
          <a:xfrm>
            <a:off x="5819477" y="1727150"/>
            <a:ext cx="13353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browser</a:t>
            </a:r>
            <a:endParaRPr lang="en-US" sz="790" dirty="0"/>
          </a:p>
        </p:txBody>
      </p:sp>
      <p:sp>
        <p:nvSpPr>
          <p:cNvPr id="40" name="Text 37"/>
          <p:cNvSpPr/>
          <p:nvPr/>
        </p:nvSpPr>
        <p:spPr>
          <a:xfrm>
            <a:off x="7104459" y="1708398"/>
            <a:ext cx="1472505" cy="206767"/>
          </a:xfrm>
          <a:prstGeom prst="roundRect">
            <a:avLst>
              <a:gd name="adj" fmla="val 17198"/>
            </a:avLst>
          </a:prstGeom>
          <a:solidFill>
            <a:srgbClr val="1A2D45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A8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http://localhost:8501</a:t>
            </a:r>
            <a:endParaRPr lang="en-US" sz="760" dirty="0"/>
          </a:p>
        </p:txBody>
      </p:sp>
      <p:sp>
        <p:nvSpPr>
          <p:cNvPr id="41" name="Text 38"/>
          <p:cNvSpPr/>
          <p:nvPr/>
        </p:nvSpPr>
        <p:spPr>
          <a:xfrm>
            <a:off x="5482679" y="2231529"/>
            <a:ext cx="3204121" cy="434280"/>
          </a:xfrm>
          <a:prstGeom prst="roundRect">
            <a:avLst>
              <a:gd name="adj" fmla="val 13160"/>
            </a:avLst>
          </a:prstGeom>
          <a:solidFill>
            <a:srgbClr val="FFF8E1"/>
          </a:solidFill>
          <a:ln w="9525">
            <a:solidFill>
              <a:srgbClr val="F59E0B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4012" y="2382301"/>
            <a:ext cx="132588" cy="132588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785098" y="2298204"/>
            <a:ext cx="2833434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Ensure the venv interpreter is selected in your IDE before running any scripts.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6504279" y="2319189"/>
            <a:ext cx="284027" cy="110430"/>
          </a:xfrm>
          <a:prstGeom prst="roundRect">
            <a:avLst>
              <a:gd name="adj" fmla="val 19551"/>
            </a:avLst>
          </a:prstGeom>
          <a:solidFill>
            <a:srgbClr val="F0E0B0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endParaRPr lang="en-US" sz="680" dirty="0"/>
          </a:p>
        </p:txBody>
      </p:sp>
      <p:sp>
        <p:nvSpPr>
          <p:cNvPr id="45" name="Text 41"/>
          <p:cNvSpPr/>
          <p:nvPr/>
        </p:nvSpPr>
        <p:spPr>
          <a:xfrm>
            <a:off x="457200" y="2766120"/>
            <a:ext cx="8229600" cy="271463"/>
          </a:xfrm>
          <a:prstGeom prst="roundRect">
            <a:avLst>
              <a:gd name="adj" fmla="val 26199"/>
            </a:avLst>
          </a:prstGeom>
          <a:solidFill>
            <a:srgbClr val="0D1B2A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214" y="2835557"/>
            <a:ext cx="132588" cy="132588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1042541" y="2837111"/>
            <a:ext cx="37424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680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8326" y="2835557"/>
            <a:ext cx="132588" cy="132588"/>
          </a:xfrm>
          <a:prstGeom prst="rect">
            <a:avLst/>
          </a:prstGeom>
        </p:spPr>
      </p:pic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0837" y="2835557"/>
            <a:ext cx="132588" cy="13258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2119164" y="2837111"/>
            <a:ext cx="51110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venv</a:t>
            </a:r>
            <a:endParaRPr lang="en-US" sz="68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97308" y="2835557"/>
            <a:ext cx="132588" cy="132588"/>
          </a:xfrm>
          <a:prstGeom prst="rect">
            <a:avLst/>
          </a:prstGeom>
        </p:spPr>
      </p:pic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98846" y="2835557"/>
            <a:ext cx="132588" cy="132588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3337173" y="2837111"/>
            <a:ext cx="33724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680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36141" y="2835557"/>
            <a:ext cx="132588" cy="132588"/>
          </a:xfrm>
          <a:prstGeom prst="rect">
            <a:avLst/>
          </a:prstGeom>
        </p:spPr>
      </p:pic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73088" y="2835557"/>
            <a:ext cx="132588" cy="13258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4411414" y="2837111"/>
            <a:ext cx="4795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deps</a:t>
            </a:r>
            <a:endParaRPr lang="en-US" sz="680" dirty="0"/>
          </a:p>
        </p:txBody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75122" y="2835557"/>
            <a:ext cx="132588" cy="132588"/>
          </a:xfrm>
          <a:prstGeom prst="rect">
            <a:avLst/>
          </a:prstGeom>
        </p:spPr>
      </p:pic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76053" y="2835557"/>
            <a:ext cx="132588" cy="13258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5514380" y="2837111"/>
            <a:ext cx="55841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Ollama</a:t>
            </a:r>
            <a:endParaRPr lang="en-US" sz="680" dirty="0"/>
          </a:p>
        </p:txBody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13955" y="2835557"/>
            <a:ext cx="132588" cy="132588"/>
          </a:xfrm>
          <a:prstGeom prst="rect">
            <a:avLst/>
          </a:prstGeom>
        </p:spPr>
      </p:pic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584388" y="2835557"/>
            <a:ext cx="132588" cy="132588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6722715" y="2837111"/>
            <a:ext cx="40567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680" dirty="0"/>
          </a:p>
        </p:txBody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52937" y="2835557"/>
            <a:ext cx="132588" cy="132588"/>
          </a:xfrm>
          <a:prstGeom prst="rect">
            <a:avLst/>
          </a:prstGeom>
        </p:spPr>
      </p:pic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797635" y="2835557"/>
            <a:ext cx="132588" cy="132588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7935962" y="2837111"/>
            <a:ext cx="24245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:8501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1071265"/>
            <a:ext cx="2429470" cy="3000970"/>
          </a:xfrm>
          <a:prstGeom prst="ellipse">
            <a:avLst/>
          </a:prstGeom>
          <a:gradFill rotWithShape="1">
            <a:gsLst>
              <a:gs pos="0">
                <a:srgbClr val="34D399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4530" y="1071265"/>
            <a:ext cx="2429470" cy="3000970"/>
          </a:xfrm>
          <a:prstGeom prst="ellipse">
            <a:avLst/>
          </a:prstGeom>
          <a:gradFill rotWithShape="1">
            <a:gsLst>
              <a:gs pos="0">
                <a:srgbClr val="FBBF2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4670524"/>
            <a:ext cx="8343900" cy="272355"/>
          </a:xfrm>
          <a:prstGeom prst="roundRect">
            <a:avLst>
              <a:gd name="adj" fmla="val 26113"/>
            </a:avLst>
          </a:prstGeom>
          <a:solidFill>
            <a:srgbClr val="4F8EF7">
              <a:alpha val="7000"/>
            </a:srgbClr>
          </a:solidFill>
          <a:ln w="9525">
            <a:solidFill>
              <a:srgbClr val="4F8EF7">
                <a:alpha val="18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1382" y="4740334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628" y="4737199"/>
            <a:ext cx="770587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requests and numpy install steps were encountered and resolved during development — run verification commands first to confirm your environment is healthy.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400050" y="228600"/>
            <a:ext cx="34290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00050" y="328761"/>
            <a:ext cx="892797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3"/>
              </a:lnSpc>
              <a:buNone/>
            </a:pPr>
            <a:r>
              <a:rPr lang="en-US" sz="1690" b="1" spc="-17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Tests, Verification &amp; Troubleshooting</a:t>
            </a:r>
            <a:endParaRPr lang="en-US" sz="1690" dirty="0"/>
          </a:p>
        </p:txBody>
      </p:sp>
      <p:sp>
        <p:nvSpPr>
          <p:cNvPr id="11" name="Text 8"/>
          <p:cNvSpPr/>
          <p:nvPr/>
        </p:nvSpPr>
        <p:spPr>
          <a:xfrm>
            <a:off x="400050" y="703659"/>
            <a:ext cx="4330452" cy="4143970"/>
          </a:xfrm>
          <a:prstGeom prst="roundRect">
            <a:avLst>
              <a:gd name="adj" fmla="val 2758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67035" y="856655"/>
            <a:ext cx="4076411" cy="302270"/>
          </a:xfrm>
          <a:prstGeom prst="rect">
            <a:avLst/>
          </a:prstGeom>
          <a:noFill/>
          <a:ln/>
        </p:spPr>
        <p:txBody>
          <a:bodyPr wrap="none" lIns="178723" tIns="0" rIns="0" bIns="100330" rtlCol="0" anchor="ctr"/>
          <a:lstStyle/>
          <a:p>
            <a:pPr algn="l" indent="0" marL="0">
              <a:buNone/>
            </a:pPr>
            <a:r>
              <a:rPr lang="en-US" sz="1010" b="1" spc="10" kern="0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Verification Commands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567035" y="1149400"/>
            <a:ext cx="3996482" cy="9525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543" y="886578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7035" y="1773734"/>
            <a:ext cx="3996482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67035" y="1323975"/>
            <a:ext cx="43961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4D39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PIPELINE TEST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567035" y="1498402"/>
            <a:ext cx="3996482" cy="231651"/>
          </a:xfrm>
          <a:prstGeom prst="roundRect">
            <a:avLst>
              <a:gd name="adj" fmla="val 1864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34D399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ingestion/pipeline.py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567035" y="2297757"/>
            <a:ext cx="3996482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67035" y="1847999"/>
            <a:ext cx="43961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4D39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RETRIEVER</a:t>
            </a:r>
            <a:endParaRPr lang="en-US" sz="730" dirty="0"/>
          </a:p>
        </p:txBody>
      </p:sp>
      <p:sp>
        <p:nvSpPr>
          <p:cNvPr id="20" name="Text 16"/>
          <p:cNvSpPr/>
          <p:nvPr/>
        </p:nvSpPr>
        <p:spPr>
          <a:xfrm>
            <a:off x="567035" y="2022425"/>
            <a:ext cx="3996482" cy="231651"/>
          </a:xfrm>
          <a:prstGeom prst="roundRect">
            <a:avLst>
              <a:gd name="adj" fmla="val 1864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34D399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ingestion/hybrid_retriever.py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567035" y="2812405"/>
            <a:ext cx="3996482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67035" y="2372023"/>
            <a:ext cx="43961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4D39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OLLAMA CONNECTION</a:t>
            </a:r>
            <a:endParaRPr lang="en-US" sz="730" dirty="0"/>
          </a:p>
        </p:txBody>
      </p:sp>
      <p:sp>
        <p:nvSpPr>
          <p:cNvPr id="23" name="Text 19"/>
          <p:cNvSpPr/>
          <p:nvPr/>
        </p:nvSpPr>
        <p:spPr>
          <a:xfrm>
            <a:off x="567035" y="2546449"/>
            <a:ext cx="3996482" cy="221337"/>
          </a:xfrm>
          <a:prstGeom prst="roundRect">
            <a:avLst>
              <a:gd name="adj" fmla="val 19509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34D399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http://localhost:11434/api/generate -d {"model":"llama2","prompt":"hi"}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567035" y="3336429"/>
            <a:ext cx="3996482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67035" y="2886670"/>
            <a:ext cx="43961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4D39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IMPORTS</a:t>
            </a:r>
            <a:endParaRPr lang="en-US" sz="730" dirty="0"/>
          </a:p>
        </p:txBody>
      </p:sp>
      <p:sp>
        <p:nvSpPr>
          <p:cNvPr id="26" name="Text 22"/>
          <p:cNvSpPr/>
          <p:nvPr/>
        </p:nvSpPr>
        <p:spPr>
          <a:xfrm>
            <a:off x="567035" y="3061097"/>
            <a:ext cx="3996482" cy="231651"/>
          </a:xfrm>
          <a:prstGeom prst="roundRect">
            <a:avLst>
              <a:gd name="adj" fmla="val 1864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34D399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requests, numpy; print(OK)"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567035" y="3410694"/>
            <a:ext cx="43961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4D39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VERSION</a:t>
            </a:r>
            <a:endParaRPr lang="en-US" sz="730" dirty="0"/>
          </a:p>
        </p:txBody>
      </p:sp>
      <p:sp>
        <p:nvSpPr>
          <p:cNvPr id="28" name="Text 24"/>
          <p:cNvSpPr/>
          <p:nvPr/>
        </p:nvSpPr>
        <p:spPr>
          <a:xfrm>
            <a:off x="567035" y="3585121"/>
            <a:ext cx="3996482" cy="231651"/>
          </a:xfrm>
          <a:prstGeom prst="roundRect">
            <a:avLst>
              <a:gd name="adj" fmla="val 1864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34D399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--version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4909542" y="774650"/>
            <a:ext cx="13841" cy="18142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4F8E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787652" y="2646015"/>
            <a:ext cx="257770" cy="257770"/>
          </a:xfrm>
          <a:prstGeom prst="ellipse">
            <a:avLst/>
          </a:prstGeom>
          <a:solidFill>
            <a:srgbClr val="1A2D45"/>
          </a:solidFill>
          <a:ln w="9525">
            <a:solidFill>
              <a:srgbClr val="4F8EF7">
                <a:alpha val="25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0243" y="2708606"/>
            <a:ext cx="132588" cy="1325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909542" y="2960936"/>
            <a:ext cx="13841" cy="18142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4F8E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5102572" y="703659"/>
            <a:ext cx="3641378" cy="4143970"/>
          </a:xfrm>
          <a:prstGeom prst="roundRect">
            <a:avLst>
              <a:gd name="adj" fmla="val 3139"/>
            </a:avLst>
          </a:prstGeom>
          <a:solidFill>
            <a:srgbClr val="FBBF24">
              <a:alpha val="8000"/>
            </a:srgbClr>
          </a:solidFill>
          <a:ln w="9525">
            <a:solidFill>
              <a:srgbClr val="FBBF24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5269557" y="856655"/>
            <a:ext cx="3373556" cy="302270"/>
          </a:xfrm>
          <a:prstGeom prst="rect">
            <a:avLst/>
          </a:prstGeom>
          <a:noFill/>
          <a:ln/>
        </p:spPr>
        <p:txBody>
          <a:bodyPr wrap="none" lIns="178723" tIns="0" rIns="0" bIns="100330" rtlCol="0" anchor="ctr"/>
          <a:lstStyle/>
          <a:p>
            <a:pPr algn="l" indent="0" marL="0">
              <a:buNone/>
            </a:pPr>
            <a:r>
              <a:rPr lang="en-US" sz="1010" b="1" spc="10" kern="0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Known Fixes &amp; Troubleshooting</a:t>
            </a:r>
            <a:endParaRPr lang="en-US" sz="1010" dirty="0"/>
          </a:p>
        </p:txBody>
      </p:sp>
      <p:sp>
        <p:nvSpPr>
          <p:cNvPr id="35" name="Text 30"/>
          <p:cNvSpPr/>
          <p:nvPr/>
        </p:nvSpPr>
        <p:spPr>
          <a:xfrm>
            <a:off x="5269557" y="1149400"/>
            <a:ext cx="3307407" cy="9525"/>
          </a:xfrm>
          <a:prstGeom prst="rect">
            <a:avLst/>
          </a:prstGeom>
          <a:solidFill>
            <a:srgbClr val="FBBF24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57065" y="886578"/>
            <a:ext cx="132588" cy="13258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269557" y="1773734"/>
            <a:ext cx="330740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269557" y="1323975"/>
            <a:ext cx="363814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BBF2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REQUESTS</a:t>
            </a:r>
            <a:endParaRPr lang="en-US" sz="730" dirty="0"/>
          </a:p>
        </p:txBody>
      </p:sp>
      <p:sp>
        <p:nvSpPr>
          <p:cNvPr id="39" name="Text 33"/>
          <p:cNvSpPr/>
          <p:nvPr/>
        </p:nvSpPr>
        <p:spPr>
          <a:xfrm>
            <a:off x="5269557" y="1498402"/>
            <a:ext cx="3307407" cy="231651"/>
          </a:xfrm>
          <a:prstGeom prst="roundRect">
            <a:avLst>
              <a:gd name="adj" fmla="val 1864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BBF24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5269557" y="2297757"/>
            <a:ext cx="330740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269557" y="1847999"/>
            <a:ext cx="363814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BBF2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NUMPY</a:t>
            </a:r>
            <a:endParaRPr lang="en-US" sz="730" dirty="0"/>
          </a:p>
        </p:txBody>
      </p:sp>
      <p:sp>
        <p:nvSpPr>
          <p:cNvPr id="42" name="Text 36"/>
          <p:cNvSpPr/>
          <p:nvPr/>
        </p:nvSpPr>
        <p:spPr>
          <a:xfrm>
            <a:off x="5269557" y="2022425"/>
            <a:ext cx="3307407" cy="231651"/>
          </a:xfrm>
          <a:prstGeom prst="roundRect">
            <a:avLst>
              <a:gd name="adj" fmla="val 1864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BBF24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</a:t>
            </a:r>
            <a:endParaRPr lang="en-US" sz="700" dirty="0"/>
          </a:p>
        </p:txBody>
      </p:sp>
      <p:sp>
        <p:nvSpPr>
          <p:cNvPr id="43" name="Text 37"/>
          <p:cNvSpPr/>
          <p:nvPr/>
        </p:nvSpPr>
        <p:spPr>
          <a:xfrm>
            <a:off x="5269557" y="2746325"/>
            <a:ext cx="330740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5269557" y="2372023"/>
            <a:ext cx="363814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BBF2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STREAMLIT</a:t>
            </a:r>
            <a:endParaRPr lang="en-US" sz="730" dirty="0"/>
          </a:p>
        </p:txBody>
      </p:sp>
      <p:sp>
        <p:nvSpPr>
          <p:cNvPr id="45" name="Text 39"/>
          <p:cNvSpPr/>
          <p:nvPr/>
        </p:nvSpPr>
        <p:spPr>
          <a:xfrm>
            <a:off x="5269557" y="2546449"/>
            <a:ext cx="3373556" cy="27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Ctrl+C</a:t>
            </a:r>
            <a:endParaRPr lang="en-US" sz="760" dirty="0"/>
          </a:p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then re-run streamlit run app.py</a:t>
            </a:r>
            <a:endParaRPr lang="en-US" sz="760" dirty="0"/>
          </a:p>
        </p:txBody>
      </p:sp>
      <p:sp>
        <p:nvSpPr>
          <p:cNvPr id="46" name="Text 40"/>
          <p:cNvSpPr/>
          <p:nvPr/>
        </p:nvSpPr>
        <p:spPr>
          <a:xfrm>
            <a:off x="5538747" y="2542133"/>
            <a:ext cx="429152" cy="141982"/>
          </a:xfrm>
          <a:prstGeom prst="roundRect">
            <a:avLst>
              <a:gd name="adj" fmla="val 3041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BBF24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Ctrl+C</a:t>
            </a:r>
            <a:endParaRPr lang="en-US" sz="650" dirty="0"/>
          </a:p>
        </p:txBody>
      </p:sp>
      <p:sp>
        <p:nvSpPr>
          <p:cNvPr id="47" name="Text 41"/>
          <p:cNvSpPr/>
          <p:nvPr/>
        </p:nvSpPr>
        <p:spPr>
          <a:xfrm>
            <a:off x="6477783" y="2542133"/>
            <a:ext cx="1149769" cy="141982"/>
          </a:xfrm>
          <a:prstGeom prst="roundRect">
            <a:avLst>
              <a:gd name="adj" fmla="val 3041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BBF24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650" dirty="0"/>
          </a:p>
        </p:txBody>
      </p:sp>
      <p:sp>
        <p:nvSpPr>
          <p:cNvPr id="48" name="Text 42"/>
          <p:cNvSpPr/>
          <p:nvPr/>
        </p:nvSpPr>
        <p:spPr>
          <a:xfrm>
            <a:off x="5269557" y="3194893"/>
            <a:ext cx="330740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5269557" y="2820591"/>
            <a:ext cx="363814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BBF2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STREAMLIT CACHE</a:t>
            </a:r>
            <a:endParaRPr lang="en-US" sz="730" dirty="0"/>
          </a:p>
        </p:txBody>
      </p:sp>
      <p:sp>
        <p:nvSpPr>
          <p:cNvPr id="50" name="Text 44"/>
          <p:cNvSpPr/>
          <p:nvPr/>
        </p:nvSpPr>
        <p:spPr>
          <a:xfrm>
            <a:off x="5269557" y="2995017"/>
            <a:ext cx="3638148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→ Clear Cache  or  st.cache_data.clear()</a:t>
            </a:r>
            <a:endParaRPr lang="en-US" sz="760" dirty="0"/>
          </a:p>
        </p:txBody>
      </p:sp>
      <p:sp>
        <p:nvSpPr>
          <p:cNvPr id="51" name="Text 45"/>
          <p:cNvSpPr/>
          <p:nvPr/>
        </p:nvSpPr>
        <p:spPr>
          <a:xfrm>
            <a:off x="6378010" y="2990701"/>
            <a:ext cx="1201230" cy="141982"/>
          </a:xfrm>
          <a:prstGeom prst="roundRect">
            <a:avLst>
              <a:gd name="adj" fmla="val 3041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BBF24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st.cache_data.clear()</a:t>
            </a:r>
            <a:endParaRPr lang="en-US" sz="650" dirty="0"/>
          </a:p>
        </p:txBody>
      </p:sp>
      <p:sp>
        <p:nvSpPr>
          <p:cNvPr id="52" name="Text 46"/>
          <p:cNvSpPr/>
          <p:nvPr/>
        </p:nvSpPr>
        <p:spPr>
          <a:xfrm>
            <a:off x="5269557" y="3643461"/>
            <a:ext cx="3307407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5269557" y="3269159"/>
            <a:ext cx="363814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BBF2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PYTHON INTERPRETER</a:t>
            </a:r>
            <a:endParaRPr lang="en-US" sz="730" dirty="0"/>
          </a:p>
        </p:txBody>
      </p:sp>
      <p:sp>
        <p:nvSpPr>
          <p:cNvPr id="54" name="Text 48"/>
          <p:cNvSpPr/>
          <p:nvPr/>
        </p:nvSpPr>
        <p:spPr>
          <a:xfrm>
            <a:off x="5269557" y="3443585"/>
            <a:ext cx="3638148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which python points to venv</a:t>
            </a:r>
            <a:endParaRPr lang="en-US" sz="760" dirty="0"/>
          </a:p>
        </p:txBody>
      </p:sp>
      <p:sp>
        <p:nvSpPr>
          <p:cNvPr id="55" name="Text 49"/>
          <p:cNvSpPr/>
          <p:nvPr/>
        </p:nvSpPr>
        <p:spPr>
          <a:xfrm>
            <a:off x="5530362" y="3439269"/>
            <a:ext cx="737923" cy="141982"/>
          </a:xfrm>
          <a:prstGeom prst="roundRect">
            <a:avLst>
              <a:gd name="adj" fmla="val 3041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BBF24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python</a:t>
            </a:r>
            <a:endParaRPr lang="en-US" sz="650" dirty="0"/>
          </a:p>
        </p:txBody>
      </p:sp>
      <p:sp>
        <p:nvSpPr>
          <p:cNvPr id="56" name="Text 50"/>
          <p:cNvSpPr/>
          <p:nvPr/>
        </p:nvSpPr>
        <p:spPr>
          <a:xfrm>
            <a:off x="5269557" y="3652986"/>
            <a:ext cx="3373556" cy="878086"/>
          </a:xfrm>
          <a:prstGeom prst="rect">
            <a:avLst/>
          </a:prstGeom>
          <a:noFill/>
          <a:ln/>
        </p:spPr>
        <p:txBody>
          <a:bodyPr wrap="square" lIns="0" tIns="64770" rIns="0" bIns="6477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b="1" spc="44" kern="0" dirty="0">
                <a:solidFill>
                  <a:srgbClr val="FBBF2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NOT FOUND
</a:t>
            </a:r>
            <a:pPr algn="l" indent="0" marL="0">
              <a:lnSpc>
                <a:spcPts val="1800"/>
              </a:lnSpc>
              <a:buNone/>
            </a:pPr>
            <a:r>
              <a:rPr lang="en-US" sz="76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venv is activated before running any script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857500" cy="1857970"/>
          </a:xfrm>
          <a:prstGeom prst="ellipse">
            <a:avLst/>
          </a:prstGeom>
          <a:gradFill rotWithShape="1">
            <a:gsLst>
              <a:gs pos="0">
                <a:srgbClr val="4F8EF7">
                  <a:alpha val="9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0" y="3572470"/>
            <a:ext cx="2286000" cy="1571030"/>
          </a:xfrm>
          <a:prstGeom prst="ellipse">
            <a:avLst/>
          </a:prstGeom>
          <a:gradFill rotWithShape="1">
            <a:gsLst>
              <a:gs pos="0">
                <a:srgbClr val="F472B6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4F8EF7"/>
              </a:gs>
              <a:gs pos="25000">
                <a:srgbClr val="34D399"/>
              </a:gs>
              <a:gs pos="50000">
                <a:srgbClr val="A78BFA"/>
              </a:gs>
              <a:gs pos="75000">
                <a:srgbClr val="F59E0B"/>
              </a:gs>
              <a:gs pos="100000">
                <a:srgbClr val="F472B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7935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4F8EF7">
              <a:alpha val="18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292" y="370442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5591" y="257770"/>
            <a:ext cx="4216837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spc="-2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&amp; </a:t>
            </a:r>
            <a:pPr algn="l" indent="0" marL="0">
              <a:lnSpc>
                <a:spcPts val="2233"/>
              </a:lnSpc>
              <a:buNone/>
            </a:pPr>
            <a:r>
              <a:rPr lang="en-US" sz="2030" spc="-20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Future Improvements</a:t>
            </a:r>
            <a:endParaRPr lang="en-US" sz="2030" dirty="0"/>
          </a:p>
        </p:txBody>
      </p:sp>
      <p:sp>
        <p:nvSpPr>
          <p:cNvPr id="10" name="Text 7"/>
          <p:cNvSpPr/>
          <p:nvPr/>
        </p:nvSpPr>
        <p:spPr>
          <a:xfrm>
            <a:off x="915591" y="584448"/>
            <a:ext cx="5143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4F8E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86420" y="1035248"/>
            <a:ext cx="7371159" cy="13841"/>
          </a:xfrm>
          <a:prstGeom prst="rect">
            <a:avLst/>
          </a:prstGeom>
          <a:gradFill rotWithShape="1">
            <a:gsLst>
              <a:gs pos="0">
                <a:srgbClr val="4F8EF7">
                  <a:alpha val="50000"/>
                </a:srgbClr>
              </a:gs>
              <a:gs pos="25000">
                <a:srgbClr val="34D399">
                  <a:alpha val="50000"/>
                </a:srgbClr>
              </a:gs>
              <a:gs pos="50000">
                <a:srgbClr val="A78BFA">
                  <a:alpha val="50000"/>
                </a:srgbClr>
              </a:gs>
              <a:gs pos="75000">
                <a:srgbClr val="F59E0B">
                  <a:alpha val="50000"/>
                </a:srgbClr>
              </a:gs>
              <a:gs pos="100000">
                <a:srgbClr val="F472B6">
                  <a:alpha val="5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7200" y="4723209"/>
            <a:ext cx="8229600" cy="262830"/>
          </a:xfrm>
          <a:prstGeom prst="roundRect">
            <a:avLst>
              <a:gd name="adj" fmla="val 21744"/>
            </a:avLst>
          </a:prstGeom>
          <a:solidFill>
            <a:srgbClr val="4F8EF7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57200" y="4723209"/>
            <a:ext cx="19050" cy="262830"/>
          </a:xfrm>
          <a:custGeom>
            <a:avLst/>
            <a:gdLst/>
            <a:ahLst/>
            <a:cxnLst/>
            <a:rect l="l" t="t" r="r" b="b"/>
            <a:pathLst>
              <a:path w="19050" h="262830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248278"/>
                </a:lnTo>
                <a:lnTo>
                  <a:pt x="16669" y="246021"/>
                </a:lnTo>
                <a:lnTo>
                  <a:pt x="14288" y="243482"/>
                </a:lnTo>
                <a:lnTo>
                  <a:pt x="11906" y="240596"/>
                </a:lnTo>
                <a:lnTo>
                  <a:pt x="9525" y="237271"/>
                </a:lnTo>
                <a:lnTo>
                  <a:pt x="7144" y="233348"/>
                </a:lnTo>
                <a:lnTo>
                  <a:pt x="4763" y="228521"/>
                </a:lnTo>
                <a:lnTo>
                  <a:pt x="2381" y="222005"/>
                </a:lnTo>
                <a:lnTo>
                  <a:pt x="0" y="205680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960" y="4788331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1107" y="4789884"/>
            <a:ext cx="600082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priority: Evaluation Framework (Phase 1) — quantifies gains over baseline BM25-only retrieval and drives all future improvements.</a:t>
            </a:r>
            <a:endParaRPr lang="en-US" sz="680" dirty="0"/>
          </a:p>
        </p:txBody>
      </p:sp>
      <p:sp>
        <p:nvSpPr>
          <p:cNvPr id="16" name="Text 12"/>
          <p:cNvSpPr/>
          <p:nvPr/>
        </p:nvSpPr>
        <p:spPr>
          <a:xfrm>
            <a:off x="993725" y="1392138"/>
            <a:ext cx="502474" cy="143768"/>
          </a:xfrm>
          <a:prstGeom prst="roundRect">
            <a:avLst>
              <a:gd name="adj" fmla="val 99821"/>
            </a:avLst>
          </a:prstGeom>
          <a:solidFill>
            <a:srgbClr val="4F8EF7">
              <a:alpha val="15000"/>
            </a:srgbClr>
          </a:solidFill>
          <a:ln w="9525">
            <a:solidFill>
              <a:srgbClr val="4F8EF7">
                <a:alpha val="25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510" b="1" spc="61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510" dirty="0"/>
          </a:p>
        </p:txBody>
      </p:sp>
      <p:sp>
        <p:nvSpPr>
          <p:cNvPr id="17" name="Text 13"/>
          <p:cNvSpPr/>
          <p:nvPr/>
        </p:nvSpPr>
        <p:spPr>
          <a:xfrm>
            <a:off x="457200" y="1593056"/>
            <a:ext cx="1565672" cy="931101"/>
          </a:xfrm>
          <a:prstGeom prst="roundRect">
            <a:avLst>
              <a:gd name="adj" fmla="val 10775"/>
            </a:avLst>
          </a:prstGeom>
          <a:solidFill>
            <a:srgbClr val="1A2D45"/>
          </a:solidFill>
          <a:ln w="9525">
            <a:solidFill>
              <a:srgbClr val="4F8EF7">
                <a:alpha val="6000"/>
              </a:srgbClr>
            </a:solidFill>
          </a:ln>
        </p:spPr>
        <p:txBody>
          <a:bodyPr wrap="square" lIns="100330" tIns="100330" rIns="100330" bIns="114300" rtlCol="0" anchor="t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pPr algn="ctr" indent="0" marL="0">
              <a:buNone/>
            </a:pPr>
            <a:endParaRPr lang="en-US" sz="79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RAGAS metrics — faithfulness, answer relevance &amp; context recall — for quantitative benchmarking</a:t>
            </a:r>
            <a:endParaRPr lang="en-US" sz="790" dirty="0"/>
          </a:p>
        </p:txBody>
      </p:sp>
      <p:sp>
        <p:nvSpPr>
          <p:cNvPr id="18" name="Text 14"/>
          <p:cNvSpPr/>
          <p:nvPr/>
        </p:nvSpPr>
        <p:spPr>
          <a:xfrm>
            <a:off x="466725" y="1602581"/>
            <a:ext cx="1546622" cy="285750"/>
          </a:xfrm>
          <a:prstGeom prst="rect">
            <a:avLst/>
          </a:prstGeom>
          <a:solidFill>
            <a:srgbClr val="4F8EF7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659707" y="1392138"/>
            <a:ext cx="502474" cy="143768"/>
          </a:xfrm>
          <a:prstGeom prst="roundRect">
            <a:avLst>
              <a:gd name="adj" fmla="val 99821"/>
            </a:avLst>
          </a:prstGeom>
          <a:solidFill>
            <a:srgbClr val="34D399">
              <a:alpha val="15000"/>
            </a:srgbClr>
          </a:solidFill>
          <a:ln w="9525">
            <a:solidFill>
              <a:srgbClr val="34D399">
                <a:alpha val="25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510" b="1" spc="61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510" dirty="0"/>
          </a:p>
        </p:txBody>
      </p:sp>
      <p:sp>
        <p:nvSpPr>
          <p:cNvPr id="20" name="Text 16"/>
          <p:cNvSpPr/>
          <p:nvPr/>
        </p:nvSpPr>
        <p:spPr>
          <a:xfrm>
            <a:off x="2123182" y="1593056"/>
            <a:ext cx="1565672" cy="802182"/>
          </a:xfrm>
          <a:prstGeom prst="roundRect">
            <a:avLst>
              <a:gd name="adj" fmla="val 12507"/>
            </a:avLst>
          </a:prstGeom>
          <a:solidFill>
            <a:srgbClr val="1A2D45"/>
          </a:solidFill>
          <a:ln w="9525">
            <a:solidFill>
              <a:srgbClr val="34D399">
                <a:alpha val="6000"/>
              </a:srgbClr>
            </a:solidFill>
          </a:ln>
        </p:spPr>
        <p:txBody>
          <a:bodyPr wrap="square" lIns="100330" tIns="100330" rIns="100330" bIns="114300" rtlCol="0" anchor="t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Chunking</a:t>
            </a:r>
            <a:pPr algn="ctr" indent="0" marL="0">
              <a:buNone/>
            </a:pPr>
            <a:endParaRPr lang="en-US" sz="79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semantic &amp; sentence-level chunking for improved context quality</a:t>
            </a:r>
            <a:endParaRPr lang="en-US" sz="790" dirty="0"/>
          </a:p>
        </p:txBody>
      </p:sp>
      <p:sp>
        <p:nvSpPr>
          <p:cNvPr id="21" name="Text 17"/>
          <p:cNvSpPr/>
          <p:nvPr/>
        </p:nvSpPr>
        <p:spPr>
          <a:xfrm>
            <a:off x="2132707" y="1602581"/>
            <a:ext cx="1546622" cy="285750"/>
          </a:xfrm>
          <a:prstGeom prst="rect">
            <a:avLst/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325689" y="1392138"/>
            <a:ext cx="502474" cy="143768"/>
          </a:xfrm>
          <a:prstGeom prst="roundRect">
            <a:avLst>
              <a:gd name="adj" fmla="val 99821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>
                <a:alpha val="25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510" b="1" spc="61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510" dirty="0"/>
          </a:p>
        </p:txBody>
      </p:sp>
      <p:sp>
        <p:nvSpPr>
          <p:cNvPr id="23" name="Text 19"/>
          <p:cNvSpPr/>
          <p:nvPr/>
        </p:nvSpPr>
        <p:spPr>
          <a:xfrm>
            <a:off x="3789164" y="1593056"/>
            <a:ext cx="1565672" cy="802182"/>
          </a:xfrm>
          <a:prstGeom prst="roundRect">
            <a:avLst>
              <a:gd name="adj" fmla="val 12507"/>
            </a:avLst>
          </a:prstGeom>
          <a:solidFill>
            <a:srgbClr val="1A2D45"/>
          </a:solidFill>
          <a:ln w="9525">
            <a:solidFill>
              <a:srgbClr val="A78BFA">
                <a:alpha val="6000"/>
              </a:srgbClr>
            </a:solidFill>
          </a:ln>
        </p:spPr>
        <p:txBody>
          <a:bodyPr wrap="square" lIns="100330" tIns="100330" rIns="100330" bIns="114300" rtlCol="0" anchor="t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Reranker</a:t>
            </a:r>
            <a:pPr algn="ctr" indent="0" marL="0">
              <a:buNone/>
            </a:pPr>
            <a:endParaRPr lang="en-US" sz="79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task-specific cross-encoder on phone Q&amp;A pairs for precision reranking</a:t>
            </a:r>
            <a:endParaRPr lang="en-US" sz="790" dirty="0"/>
          </a:p>
        </p:txBody>
      </p:sp>
      <p:sp>
        <p:nvSpPr>
          <p:cNvPr id="24" name="Text 20"/>
          <p:cNvSpPr/>
          <p:nvPr/>
        </p:nvSpPr>
        <p:spPr>
          <a:xfrm>
            <a:off x="3798689" y="1602581"/>
            <a:ext cx="1546622" cy="285750"/>
          </a:xfrm>
          <a:prstGeom prst="rect">
            <a:avLst/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991671" y="1392138"/>
            <a:ext cx="502474" cy="143768"/>
          </a:xfrm>
          <a:prstGeom prst="roundRect">
            <a:avLst>
              <a:gd name="adj" fmla="val 99821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25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510" b="1" spc="61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510" dirty="0"/>
          </a:p>
        </p:txBody>
      </p:sp>
      <p:sp>
        <p:nvSpPr>
          <p:cNvPr id="26" name="Text 22"/>
          <p:cNvSpPr/>
          <p:nvPr/>
        </p:nvSpPr>
        <p:spPr>
          <a:xfrm>
            <a:off x="5455146" y="1593056"/>
            <a:ext cx="1565672" cy="802182"/>
          </a:xfrm>
          <a:prstGeom prst="roundRect">
            <a:avLst>
              <a:gd name="adj" fmla="val 12507"/>
            </a:avLst>
          </a:prstGeom>
          <a:solidFill>
            <a:srgbClr val="1A2D45"/>
          </a:solidFill>
          <a:ln w="9525">
            <a:solidFill>
              <a:srgbClr val="F59E0B">
                <a:alpha val="6000"/>
              </a:srgbClr>
            </a:solidFill>
          </a:ln>
        </p:spPr>
        <p:txBody>
          <a:bodyPr wrap="square" lIns="100330" tIns="100330" rIns="100330" bIns="114300" rtlCol="0" anchor="t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Support</a:t>
            </a:r>
            <a:pPr algn="ctr" indent="0" marL="0">
              <a:buNone/>
            </a:pPr>
            <a:endParaRPr lang="en-US" sz="79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product images &amp; diagrams alongside text for richer, visual retrieval</a:t>
            </a:r>
            <a:endParaRPr lang="en-US" sz="790" dirty="0"/>
          </a:p>
        </p:txBody>
      </p:sp>
      <p:sp>
        <p:nvSpPr>
          <p:cNvPr id="27" name="Text 23"/>
          <p:cNvSpPr/>
          <p:nvPr/>
        </p:nvSpPr>
        <p:spPr>
          <a:xfrm>
            <a:off x="5464671" y="1602581"/>
            <a:ext cx="1546622" cy="28575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657654" y="1392138"/>
            <a:ext cx="502474" cy="143768"/>
          </a:xfrm>
          <a:prstGeom prst="roundRect">
            <a:avLst>
              <a:gd name="adj" fmla="val 99821"/>
            </a:avLst>
          </a:prstGeom>
          <a:solidFill>
            <a:srgbClr val="F472B6">
              <a:alpha val="15000"/>
            </a:srgbClr>
          </a:solidFill>
          <a:ln w="9525">
            <a:solidFill>
              <a:srgbClr val="F472B6">
                <a:alpha val="25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510" b="1" spc="61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510" dirty="0"/>
          </a:p>
        </p:txBody>
      </p:sp>
      <p:sp>
        <p:nvSpPr>
          <p:cNvPr id="29" name="Text 25"/>
          <p:cNvSpPr/>
          <p:nvPr/>
        </p:nvSpPr>
        <p:spPr>
          <a:xfrm>
            <a:off x="7121128" y="1593056"/>
            <a:ext cx="1565672" cy="802182"/>
          </a:xfrm>
          <a:prstGeom prst="roundRect">
            <a:avLst>
              <a:gd name="adj" fmla="val 12507"/>
            </a:avLst>
          </a:prstGeom>
          <a:solidFill>
            <a:srgbClr val="1A2D45"/>
          </a:solidFill>
          <a:ln w="9525">
            <a:solidFill>
              <a:srgbClr val="F472B6">
                <a:alpha val="6000"/>
              </a:srgbClr>
            </a:solidFill>
          </a:ln>
        </p:spPr>
        <p:txBody>
          <a:bodyPr wrap="square" lIns="100330" tIns="100330" rIns="100330" bIns="114300" rtlCol="0" anchor="t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pPr algn="ctr" indent="0" marL="0">
              <a:buNone/>
            </a:pPr>
            <a:endParaRPr lang="en-US" sz="79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 app, add auth &amp; deploy to cloud — Azure / HuggingFace Spaces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7130653" y="1602581"/>
            <a:ext cx="1546622" cy="285750"/>
          </a:xfrm>
          <a:prstGeom prst="rect">
            <a:avLst/>
          </a:prstGeom>
          <a:solidFill>
            <a:srgbClr val="F472B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982861" y="777478"/>
            <a:ext cx="514350" cy="514350"/>
          </a:xfrm>
          <a:prstGeom prst="ellipse">
            <a:avLst/>
          </a:prstGeom>
          <a:solidFill>
            <a:srgbClr val="4F8EF7">
              <a:alpha val="8000"/>
            </a:srgbClr>
          </a:solidFill>
          <a:ln w="9525">
            <a:solidFill>
              <a:srgbClr val="4F8EF7"/>
            </a:solidFill>
          </a:ln>
          <a:effectLst>
            <a:outerShdw sx="100000" sy="100000" kx="0" ky="0" algn="bl" rotWithShape="0" blurRad="143510" dist="50800" dir="16200000">
              <a:srgbClr val="4f8ef7">
                <a:alpha val="2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1054001" y="848618"/>
            <a:ext cx="372070" cy="372070"/>
          </a:xfrm>
          <a:prstGeom prst="ellipse">
            <a:avLst/>
          </a:prstGeom>
          <a:solidFill>
            <a:srgbClr val="4F8EF7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311" y="948928"/>
            <a:ext cx="171450" cy="17145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648843" y="777478"/>
            <a:ext cx="514350" cy="514350"/>
          </a:xfrm>
          <a:prstGeom prst="ellipse">
            <a:avLst/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  <a:effectLst>
            <a:outerShdw sx="100000" sy="100000" kx="0" ky="0" algn="bl" rotWithShape="0" blurRad="143510" dist="50800" dir="16200000">
              <a:srgbClr val="34d399">
                <a:alpha val="2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2719983" y="848618"/>
            <a:ext cx="372070" cy="372070"/>
          </a:xfrm>
          <a:prstGeom prst="ellipse">
            <a:avLst/>
          </a:prstGeom>
          <a:solidFill>
            <a:srgbClr val="34D399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0293" y="948928"/>
            <a:ext cx="171450" cy="17145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314825" y="777478"/>
            <a:ext cx="514350" cy="514350"/>
          </a:xfrm>
          <a:prstGeom prst="ellipse">
            <a:avLst/>
          </a:prstGeom>
          <a:solidFill>
            <a:srgbClr val="A78BFA">
              <a:alpha val="8000"/>
            </a:srgbClr>
          </a:solidFill>
          <a:ln w="9525">
            <a:solidFill>
              <a:srgbClr val="A78BFA"/>
            </a:solidFill>
          </a:ln>
          <a:effectLst>
            <a:outerShdw sx="100000" sy="100000" kx="0" ky="0" algn="bl" rotWithShape="0" blurRad="143510" dist="50800" dir="16200000">
              <a:srgbClr val="a78bfa">
                <a:alpha val="2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385965" y="848618"/>
            <a:ext cx="372070" cy="372070"/>
          </a:xfrm>
          <a:prstGeom prst="ellipse">
            <a:avLst/>
          </a:prstGeom>
          <a:solidFill>
            <a:srgbClr val="A78BFA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6275" y="948928"/>
            <a:ext cx="171450" cy="17145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980807" y="777478"/>
            <a:ext cx="514350" cy="514350"/>
          </a:xfrm>
          <a:prstGeom prst="ellipse">
            <a:avLst/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  <a:effectLst>
            <a:outerShdw sx="100000" sy="100000" kx="0" ky="0" algn="bl" rotWithShape="0" blurRad="143510" dist="50800" dir="16200000">
              <a:srgbClr val="f59e0b">
                <a:alpha val="2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6051947" y="848618"/>
            <a:ext cx="372070" cy="37207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52257" y="948928"/>
            <a:ext cx="171450" cy="17145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646789" y="777478"/>
            <a:ext cx="514350" cy="514350"/>
          </a:xfrm>
          <a:prstGeom prst="ellipse">
            <a:avLst/>
          </a:prstGeom>
          <a:solidFill>
            <a:srgbClr val="F472B6">
              <a:alpha val="8000"/>
            </a:srgbClr>
          </a:solidFill>
          <a:ln w="9525">
            <a:solidFill>
              <a:srgbClr val="F472B6"/>
            </a:solidFill>
          </a:ln>
          <a:effectLst>
            <a:outerShdw sx="100000" sy="100000" kx="0" ky="0" algn="bl" rotWithShape="0" blurRad="143510" dist="50800" dir="16200000">
              <a:srgbClr val="f472b6">
                <a:alpha val="2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7717929" y="848618"/>
            <a:ext cx="372070" cy="372070"/>
          </a:xfrm>
          <a:prstGeom prst="ellipse">
            <a:avLst/>
          </a:prstGeom>
          <a:solidFill>
            <a:srgbClr val="F472B6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18239" y="948928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00280" y="0"/>
            <a:ext cx="2143720" cy="2143720"/>
          </a:xfrm>
          <a:prstGeom prst="rect">
            <a:avLst/>
          </a:prstGeom>
          <a:gradFill rotWithShape="1">
            <a:gsLst>
              <a:gs pos="0">
                <a:srgbClr val="4F8EF7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714500" cy="1714500"/>
          </a:xfrm>
          <a:prstGeom prst="rect">
            <a:avLst/>
          </a:prstGeom>
          <a:gradFill rotWithShape="1">
            <a:gsLst>
              <a:gs pos="0">
                <a:srgbClr val="34D399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00620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4F8EF7">
              <a:alpha val="13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552" y="284122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9951" y="243036"/>
            <a:ext cx="370979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690" spc="20" kern="0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Appendix: </a:t>
            </a:r>
            <a:pPr algn="l" indent="0" marL="0">
              <a:lnSpc>
                <a:spcPts val="1690"/>
              </a:lnSpc>
              <a:buNone/>
            </a:pPr>
            <a:r>
              <a:rPr lang="en-US" sz="1690" b="1" spc="20" kern="0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Files &amp; References</a:t>
            </a:r>
            <a:endParaRPr lang="en-US" sz="1690" dirty="0"/>
          </a:p>
        </p:txBody>
      </p:sp>
      <p:sp>
        <p:nvSpPr>
          <p:cNvPr id="9" name="Text 6"/>
          <p:cNvSpPr/>
          <p:nvPr/>
        </p:nvSpPr>
        <p:spPr>
          <a:xfrm>
            <a:off x="4453682" y="346621"/>
            <a:ext cx="3364260" cy="7590"/>
          </a:xfrm>
          <a:prstGeom prst="rect">
            <a:avLst/>
          </a:prstGeom>
          <a:gradFill rotWithShape="1">
            <a:gsLst>
              <a:gs pos="0">
                <a:srgbClr val="4F8EF7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918252" y="260300"/>
            <a:ext cx="842212" cy="180231"/>
          </a:xfrm>
          <a:prstGeom prst="roundRect">
            <a:avLst>
              <a:gd name="adj" fmla="val 16207"/>
            </a:avLst>
          </a:prstGeom>
          <a:solidFill>
            <a:srgbClr val="4F8EF7">
              <a:alpha val="8000"/>
            </a:srgbClr>
          </a:solidFill>
          <a:ln w="9525">
            <a:solidFill>
              <a:srgbClr val="4F8EF7">
                <a:alpha val="18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 12 / 12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400050" y="628352"/>
            <a:ext cx="4100215" cy="2490341"/>
          </a:xfrm>
          <a:prstGeom prst="roundRect">
            <a:avLst>
              <a:gd name="adj" fmla="val 4029"/>
            </a:avLst>
          </a:prstGeom>
          <a:solidFill>
            <a:srgbClr val="1A2D45"/>
          </a:solidFill>
          <a:ln w="9525">
            <a:solidFill>
              <a:srgbClr val="4F8EF7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81025" y="790724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4F8EF7">
              <a:alpha val="13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031" y="838730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0616" y="781348"/>
            <a:ext cx="102826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60" kern="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A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880616" y="906959"/>
            <a:ext cx="1028268" cy="121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File Map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581025" y="1129159"/>
            <a:ext cx="3738265" cy="287536"/>
          </a:xfrm>
          <a:prstGeom prst="roundRect">
            <a:avLst>
              <a:gd name="adj" fmla="val 19876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4F8EF7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76870" y="1246584"/>
            <a:ext cx="49411" cy="49411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43180" dist="50800" dir="16200000">
              <a:srgbClr val="4f8ef7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97272" y="1203424"/>
            <a:ext cx="213806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and LLM orchestration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81025" y="1459855"/>
            <a:ext cx="3738265" cy="417314"/>
          </a:xfrm>
          <a:prstGeom prst="roundRect">
            <a:avLst>
              <a:gd name="adj" fmla="val 13695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4F8EF7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76870" y="1577280"/>
            <a:ext cx="49411" cy="49411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43180" dist="50800" dir="16200000">
              <a:srgbClr val="4f8ef7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97272" y="1534120"/>
            <a:ext cx="376878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ingestion/pipeline.py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loading, chunking, embedding, BM25 indexing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81025" y="1920329"/>
            <a:ext cx="3738265" cy="417314"/>
          </a:xfrm>
          <a:prstGeom prst="roundRect">
            <a:avLst>
              <a:gd name="adj" fmla="val 13695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4F8EF7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76870" y="2037755"/>
            <a:ext cx="49411" cy="49411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43180" dist="50800" dir="16200000">
              <a:srgbClr val="4f8ef7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97272" y="1994595"/>
            <a:ext cx="3768789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ingestion/hybrid_retriever.py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vector retrieval and reranking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81025" y="2380804"/>
            <a:ext cx="3738265" cy="287536"/>
          </a:xfrm>
          <a:prstGeom prst="roundRect">
            <a:avLst>
              <a:gd name="adj" fmla="val 19876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4F8EF7">
                <a:alpha val="1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76870" y="2498229"/>
            <a:ext cx="49411" cy="49411"/>
          </a:xfrm>
          <a:prstGeom prst="ellipse">
            <a:avLst/>
          </a:prstGeom>
          <a:solidFill>
            <a:srgbClr val="4F8EF7"/>
          </a:solidFill>
          <a:ln/>
          <a:effectLst>
            <a:outerShdw sx="100000" sy="100000" kx="0" ky="0" algn="bl" rotWithShape="0" blurRad="43180" dist="50800" dir="16200000">
              <a:srgbClr val="4f8ef7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97272" y="2455069"/>
            <a:ext cx="229866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Python dependencies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81025" y="2739330"/>
            <a:ext cx="3738265" cy="241697"/>
          </a:xfrm>
          <a:prstGeom prst="roundRect">
            <a:avLst>
              <a:gd name="adj" fmla="val 20493"/>
            </a:avLst>
          </a:prstGeom>
          <a:solidFill>
            <a:srgbClr val="4F8EF7">
              <a:alpha val="7000"/>
            </a:srgbClr>
          </a:solidFill>
          <a:ln w="9525">
            <a:solidFill>
              <a:srgbClr val="4F8EF7">
                <a:alpha val="18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328" y="2793810"/>
            <a:ext cx="132588" cy="132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03523" y="2798266"/>
            <a:ext cx="262117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Root: C:\Users\malha\Documents\rag_phone_project</a:t>
            </a:r>
            <a:endParaRPr lang="en-US" sz="650" dirty="0"/>
          </a:p>
        </p:txBody>
      </p:sp>
      <p:sp>
        <p:nvSpPr>
          <p:cNvPr id="31" name="Text 26"/>
          <p:cNvSpPr/>
          <p:nvPr/>
        </p:nvSpPr>
        <p:spPr>
          <a:xfrm>
            <a:off x="4643735" y="628352"/>
            <a:ext cx="4100215" cy="2490341"/>
          </a:xfrm>
          <a:prstGeom prst="roundRect">
            <a:avLst>
              <a:gd name="adj" fmla="val 4029"/>
            </a:avLst>
          </a:prstGeom>
          <a:solidFill>
            <a:srgbClr val="1A2D45"/>
          </a:solidFill>
          <a:ln w="9525">
            <a:solidFill>
              <a:srgbClr val="4F8EF7">
                <a:alpha val="1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4824710" y="790724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2716" y="838730"/>
            <a:ext cx="132588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24301" y="781348"/>
            <a:ext cx="12419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6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B</a:t>
            </a:r>
            <a:endParaRPr lang="en-US" sz="620" dirty="0"/>
          </a:p>
        </p:txBody>
      </p:sp>
      <p:sp>
        <p:nvSpPr>
          <p:cNvPr id="35" name="Text 29"/>
          <p:cNvSpPr/>
          <p:nvPr/>
        </p:nvSpPr>
        <p:spPr>
          <a:xfrm>
            <a:off x="5124301" y="906959"/>
            <a:ext cx="1241911" cy="121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E8F0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References &amp; Tools</a:t>
            </a:r>
            <a:endParaRPr lang="en-US" sz="960" dirty="0"/>
          </a:p>
        </p:txBody>
      </p:sp>
      <p:sp>
        <p:nvSpPr>
          <p:cNvPr id="36" name="Text 30"/>
          <p:cNvSpPr/>
          <p:nvPr/>
        </p:nvSpPr>
        <p:spPr>
          <a:xfrm>
            <a:off x="4824710" y="1129159"/>
            <a:ext cx="3738265" cy="272355"/>
          </a:xfrm>
          <a:prstGeom prst="roundRect">
            <a:avLst>
              <a:gd name="adj" fmla="val 20984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34D399">
                <a:alpha val="1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4920555" y="1238994"/>
            <a:ext cx="49411" cy="49411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43180" dist="50800" dir="16200000">
              <a:srgbClr val="34d399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040957" y="1195834"/>
            <a:ext cx="248873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framework patterns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4824710" y="1436936"/>
            <a:ext cx="3738265" cy="272355"/>
          </a:xfrm>
          <a:prstGeom prst="roundRect">
            <a:avLst>
              <a:gd name="adj" fmla="val 20984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34D399">
                <a:alpha val="1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920555" y="1546771"/>
            <a:ext cx="49411" cy="49411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43180" dist="50800" dir="16200000">
              <a:srgbClr val="34d399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040957" y="1503611"/>
            <a:ext cx="309462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BM25Okapi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 Python library for sparse lexical retrieval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4824710" y="1744712"/>
            <a:ext cx="3738265" cy="272355"/>
          </a:xfrm>
          <a:prstGeom prst="roundRect">
            <a:avLst>
              <a:gd name="adj" fmla="val 20984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34D399">
                <a:alpha val="1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920555" y="1854547"/>
            <a:ext cx="49411" cy="49411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43180" dist="50800" dir="16200000">
              <a:srgbClr val="34d399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5040957" y="1811387"/>
            <a:ext cx="282892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embedding models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4824710" y="2052489"/>
            <a:ext cx="3738265" cy="272355"/>
          </a:xfrm>
          <a:prstGeom prst="roundRect">
            <a:avLst>
              <a:gd name="adj" fmla="val 20984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34D399">
                <a:alpha val="1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4920555" y="2162324"/>
            <a:ext cx="49411" cy="49411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43180" dist="50800" dir="16200000">
              <a:srgbClr val="34d399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5040957" y="2119164"/>
            <a:ext cx="190494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serving 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34D399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ollama.ai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4824710" y="2360265"/>
            <a:ext cx="3738265" cy="272355"/>
          </a:xfrm>
          <a:prstGeom prst="roundRect">
            <a:avLst>
              <a:gd name="adj" fmla="val 20984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34D399">
                <a:alpha val="1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4920555" y="2470100"/>
            <a:ext cx="49411" cy="49411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43180" dist="50800" dir="16200000">
              <a:srgbClr val="34d399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5040957" y="2426940"/>
            <a:ext cx="257975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app framework 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34D399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streamlit.io</a:t>
            </a:r>
            <a:endParaRPr lang="en-US" sz="1200" dirty="0"/>
          </a:p>
        </p:txBody>
      </p:sp>
      <p:sp>
        <p:nvSpPr>
          <p:cNvPr id="51" name="Text 45"/>
          <p:cNvSpPr/>
          <p:nvPr/>
        </p:nvSpPr>
        <p:spPr>
          <a:xfrm>
            <a:off x="4824710" y="2668042"/>
            <a:ext cx="3738265" cy="272355"/>
          </a:xfrm>
          <a:prstGeom prst="roundRect">
            <a:avLst>
              <a:gd name="adj" fmla="val 20984"/>
            </a:avLst>
          </a:prstGeom>
          <a:solidFill>
            <a:srgbClr val="0D1B2A">
              <a:alpha val="50000"/>
            </a:srgbClr>
          </a:solidFill>
          <a:ln w="9525">
            <a:solidFill>
              <a:srgbClr val="34D399">
                <a:alpha val="1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4920555" y="2777877"/>
            <a:ext cx="49411" cy="49411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43180" dist="50800" dir="16200000">
              <a:srgbClr val="34d399">
                <a:alpha val="4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5040957" y="2734717"/>
            <a:ext cx="27660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algn="l" indent="0" marL="0">
              <a:lnSpc>
                <a:spcPts val="1800"/>
              </a:lnSpc>
              <a:buNone/>
            </a:pPr>
            <a:r>
              <a:rPr lang="en-US" sz="73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 / gpt-4 </a:t>
            </a:r>
            <a:pPr algn="l" indent="0" marL="0">
              <a:lnSpc>
                <a:spcPts val="1800"/>
              </a:lnSpc>
              <a:buNone/>
            </a:pPr>
            <a:r>
              <a:rPr lang="en-US" sz="680" dirty="0">
                <a:solidFill>
                  <a:srgbClr val="34D399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platform.openai.com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400050" y="3219004"/>
            <a:ext cx="8343900" cy="466130"/>
          </a:xfrm>
          <a:prstGeom prst="roundRect">
            <a:avLst>
              <a:gd name="adj" fmla="val 15258"/>
            </a:avLst>
          </a:prstGeom>
          <a:gradFill rotWithShape="1">
            <a:gsLst>
              <a:gs pos="0">
                <a:srgbClr val="4F8EF7">
                  <a:alpha val="10000"/>
                </a:srgbClr>
              </a:gs>
              <a:gs pos="100000">
                <a:srgbClr val="34D399">
                  <a:alpha val="7000"/>
                </a:srgbClr>
              </a:gs>
            </a:gsLst>
            <a:lin ang="2700000" scaled="1"/>
          </a:gradFill>
          <a:ln w="9525">
            <a:solidFill>
              <a:srgbClr val="4F8EF7">
                <a:alpha val="2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0553" y="3385700"/>
            <a:ext cx="132588" cy="132588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861268" y="3307259"/>
            <a:ext cx="6280919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serves as a quick reference for the instructor — locate each pipeline component via the file map and verify all technology choices via the references above.</a:t>
            </a:r>
            <a:endParaRPr lang="en-US" sz="760" dirty="0"/>
          </a:p>
        </p:txBody>
      </p:sp>
      <p:sp>
        <p:nvSpPr>
          <p:cNvPr id="57" name="Text 50"/>
          <p:cNvSpPr/>
          <p:nvPr/>
        </p:nvSpPr>
        <p:spPr>
          <a:xfrm>
            <a:off x="7219652" y="3351758"/>
            <a:ext cx="7590" cy="200620"/>
          </a:xfrm>
          <a:prstGeom prst="rect">
            <a:avLst/>
          </a:prstGeom>
          <a:solidFill>
            <a:srgbClr val="4F8EF7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7406342" y="3307407"/>
            <a:ext cx="47345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240" dirty="0"/>
          </a:p>
        </p:txBody>
      </p:sp>
      <p:sp>
        <p:nvSpPr>
          <p:cNvPr id="59" name="Text 52"/>
          <p:cNvSpPr/>
          <p:nvPr/>
        </p:nvSpPr>
        <p:spPr>
          <a:xfrm>
            <a:off x="7406342" y="3478709"/>
            <a:ext cx="47345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30" kern="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620" dirty="0"/>
          </a:p>
        </p:txBody>
      </p:sp>
      <p:sp>
        <p:nvSpPr>
          <p:cNvPr id="60" name="Text 53"/>
          <p:cNvSpPr/>
          <p:nvPr/>
        </p:nvSpPr>
        <p:spPr>
          <a:xfrm>
            <a:off x="7986973" y="3307407"/>
            <a:ext cx="63274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240" dirty="0"/>
          </a:p>
        </p:txBody>
      </p:sp>
      <p:sp>
        <p:nvSpPr>
          <p:cNvPr id="61" name="Text 54"/>
          <p:cNvSpPr/>
          <p:nvPr/>
        </p:nvSpPr>
        <p:spPr>
          <a:xfrm>
            <a:off x="7986973" y="3478709"/>
            <a:ext cx="63274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spc="30" kern="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620" dirty="0"/>
          </a:p>
        </p:txBody>
      </p:sp>
      <p:sp>
        <p:nvSpPr>
          <p:cNvPr id="62" name="Text 55"/>
          <p:cNvSpPr/>
          <p:nvPr/>
        </p:nvSpPr>
        <p:spPr>
          <a:xfrm>
            <a:off x="0" y="4814590"/>
            <a:ext cx="9144000" cy="328910"/>
          </a:xfrm>
          <a:prstGeom prst="rect">
            <a:avLst/>
          </a:prstGeom>
          <a:solidFill>
            <a:srgbClr val="0D1B2A">
              <a:alpha val="70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0" y="4814590"/>
            <a:ext cx="9144000" cy="9525"/>
          </a:xfrm>
          <a:prstGeom prst="rect">
            <a:avLst/>
          </a:prstGeom>
          <a:solidFill>
            <a:srgbClr val="4F8EF7">
              <a:alpha val="1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400050" y="4966097"/>
            <a:ext cx="35421" cy="35421"/>
          </a:xfrm>
          <a:prstGeom prst="ellipse">
            <a:avLst/>
          </a:prstGeom>
          <a:solidFill>
            <a:srgbClr val="4F8E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492621" y="4919067"/>
            <a:ext cx="97015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Phone Project</a:t>
            </a:r>
            <a:endParaRPr lang="en-US" sz="680" dirty="0"/>
          </a:p>
        </p:txBody>
      </p:sp>
      <p:sp>
        <p:nvSpPr>
          <p:cNvPr id="66" name="Text 59"/>
          <p:cNvSpPr/>
          <p:nvPr/>
        </p:nvSpPr>
        <p:spPr>
          <a:xfrm>
            <a:off x="1460897" y="4919067"/>
            <a:ext cx="5713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4F8EF7">
                    <a:alpha val="1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680" dirty="0"/>
          </a:p>
        </p:txBody>
      </p:sp>
      <p:sp>
        <p:nvSpPr>
          <p:cNvPr id="67" name="Text 60"/>
          <p:cNvSpPr/>
          <p:nvPr/>
        </p:nvSpPr>
        <p:spPr>
          <a:xfrm>
            <a:off x="1599158" y="4919067"/>
            <a:ext cx="108442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·  June 11, 2026</a:t>
            </a:r>
            <a:endParaRPr lang="en-US" sz="680" dirty="0"/>
          </a:p>
        </p:txBody>
      </p:sp>
      <p:sp>
        <p:nvSpPr>
          <p:cNvPr id="68" name="Text 61"/>
          <p:cNvSpPr/>
          <p:nvPr/>
        </p:nvSpPr>
        <p:spPr>
          <a:xfrm>
            <a:off x="7527280" y="4919067"/>
            <a:ext cx="133833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8F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Assignment Submission</a:t>
            </a:r>
            <a:endParaRPr lang="en-US" sz="680" dirty="0"/>
          </a:p>
        </p:txBody>
      </p:sp>
      <p:sp>
        <p:nvSpPr>
          <p:cNvPr id="69" name="Text 62"/>
          <p:cNvSpPr/>
          <p:nvPr/>
        </p:nvSpPr>
        <p:spPr>
          <a:xfrm>
            <a:off x="409575" y="637877"/>
            <a:ext cx="4081167" cy="21580"/>
          </a:xfrm>
          <a:custGeom>
            <a:avLst/>
            <a:gdLst/>
            <a:ahLst/>
            <a:cxnLst/>
            <a:rect l="l" t="t" r="r" b="b"/>
            <a:pathLst>
              <a:path w="4081167" h="21580">
                <a:moveTo>
                  <a:pt x="100330" y="0"/>
                </a:moveTo>
                <a:lnTo>
                  <a:pt x="3980838" y="0"/>
                </a:lnTo>
                <a:lnTo>
                  <a:pt x="4003946" y="2698"/>
                </a:lnTo>
                <a:lnTo>
                  <a:pt x="4013294" y="5395"/>
                </a:lnTo>
                <a:lnTo>
                  <a:pt x="4020313" y="8093"/>
                </a:lnTo>
                <a:lnTo>
                  <a:pt x="4026100" y="10790"/>
                </a:lnTo>
                <a:lnTo>
                  <a:pt x="4031082" y="13488"/>
                </a:lnTo>
                <a:lnTo>
                  <a:pt x="4035479" y="16185"/>
                </a:lnTo>
                <a:lnTo>
                  <a:pt x="4039424" y="18883"/>
                </a:lnTo>
                <a:lnTo>
                  <a:pt x="4043003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4F8EF7"/>
              </a:gs>
              <a:gs pos="100000">
                <a:srgbClr val="4F8EF7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3"/>
          <p:cNvSpPr/>
          <p:nvPr/>
        </p:nvSpPr>
        <p:spPr>
          <a:xfrm>
            <a:off x="4653260" y="637877"/>
            <a:ext cx="4081167" cy="21580"/>
          </a:xfrm>
          <a:custGeom>
            <a:avLst/>
            <a:gdLst/>
            <a:ahLst/>
            <a:cxnLst/>
            <a:rect l="l" t="t" r="r" b="b"/>
            <a:pathLst>
              <a:path w="4081167" h="21580">
                <a:moveTo>
                  <a:pt x="100330" y="0"/>
                </a:moveTo>
                <a:lnTo>
                  <a:pt x="3980838" y="0"/>
                </a:lnTo>
                <a:lnTo>
                  <a:pt x="4003946" y="2698"/>
                </a:lnTo>
                <a:lnTo>
                  <a:pt x="4013294" y="5395"/>
                </a:lnTo>
                <a:lnTo>
                  <a:pt x="4020313" y="8093"/>
                </a:lnTo>
                <a:lnTo>
                  <a:pt x="4026100" y="10790"/>
                </a:lnTo>
                <a:lnTo>
                  <a:pt x="4031082" y="13488"/>
                </a:lnTo>
                <a:lnTo>
                  <a:pt x="4035479" y="16185"/>
                </a:lnTo>
                <a:lnTo>
                  <a:pt x="4039424" y="18883"/>
                </a:lnTo>
                <a:lnTo>
                  <a:pt x="4043003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4D399"/>
              </a:gs>
              <a:gs pos="100000">
                <a:srgbClr val="34D399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2026-06-11T14:26:31Z</dcterms:created>
  <dcterms:modified xsi:type="dcterms:W3CDTF">2026-06-11T14:26:31Z</dcterms:modified>
</cp:coreProperties>
</file>